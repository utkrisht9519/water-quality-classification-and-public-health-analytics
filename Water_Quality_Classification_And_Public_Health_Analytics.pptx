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72" r:id="rId8"/>
    <p:sldId id="273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-147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54" y="846138"/>
            <a:ext cx="8229600" cy="1143000"/>
          </a:xfrm>
        </p:spPr>
        <p:txBody>
          <a:bodyPr>
            <a:normAutofit fontScale="90000"/>
          </a:bodyPr>
          <a:lstStyle/>
          <a:p>
            <a:r>
              <a:t>Water Quality Classification &amp; Public Health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1659" y="2625755"/>
            <a:ext cx="5649985" cy="291098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sz="3600" smtClean="0"/>
              <a:t>Machine Learning</a:t>
            </a:r>
            <a:r>
              <a:rPr lang="en-US" sz="3600" dirty="0" smtClean="0"/>
              <a:t>-</a:t>
            </a:r>
            <a:r>
              <a:rPr sz="3600" smtClean="0"/>
              <a:t>Driven</a:t>
            </a:r>
            <a:endParaRPr lang="en-US" sz="3600" dirty="0" smtClean="0"/>
          </a:p>
          <a:p>
            <a:pPr algn="ctr">
              <a:buNone/>
            </a:pPr>
            <a:r>
              <a:rPr sz="3600" smtClean="0"/>
              <a:t>Environmental Insights</a:t>
            </a:r>
          </a:p>
          <a:p>
            <a:pPr algn="ctr">
              <a:buNone/>
            </a:pPr>
            <a:endParaRPr lang="en-US" sz="3600" dirty="0" smtClean="0"/>
          </a:p>
          <a:p>
            <a:pPr algn="ctr">
              <a:buNone/>
            </a:pPr>
            <a:r>
              <a:rPr sz="3600" smtClean="0"/>
              <a:t>Utkrisht Agrawal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4775433"/>
          </a:xfrm>
        </p:spPr>
        <p:txBody>
          <a:bodyPr/>
          <a:lstStyle/>
          <a:p>
            <a:pPr>
              <a:buNone/>
            </a:pPr>
            <a:r>
              <a:rPr b="1" smtClean="0"/>
              <a:t>Objective: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Predict water quality categories (Class A–E) </a:t>
            </a:r>
            <a:r>
              <a:rPr lang="en-US" dirty="0" smtClean="0"/>
              <a:t>using</a:t>
            </a:r>
          </a:p>
          <a:p>
            <a:pPr>
              <a:buNone/>
            </a:pPr>
            <a:r>
              <a:rPr lang="en-US" dirty="0" smtClean="0"/>
              <a:t>real </a:t>
            </a:r>
            <a:r>
              <a:rPr lang="en-US" dirty="0" smtClean="0"/>
              <a:t>monitoring data from Maharashtra.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b="1" smtClean="0"/>
              <a:t>Use Case: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Provide </a:t>
            </a:r>
            <a:r>
              <a:rPr lang="en-US" dirty="0" smtClean="0"/>
              <a:t>analytical support for public </a:t>
            </a:r>
            <a:r>
              <a:rPr lang="en-US" dirty="0" smtClean="0"/>
              <a:t>health,</a:t>
            </a:r>
          </a:p>
          <a:p>
            <a:pPr>
              <a:buNone/>
            </a:pPr>
            <a:r>
              <a:rPr lang="en-US" dirty="0" smtClean="0"/>
              <a:t>regulatory </a:t>
            </a:r>
            <a:r>
              <a:rPr lang="en-US" dirty="0" smtClean="0"/>
              <a:t>policy, and environmental monitoring.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9598"/>
          </a:xfrm>
        </p:spPr>
        <p:txBody>
          <a:bodyPr>
            <a:normAutofit/>
          </a:bodyPr>
          <a:lstStyle/>
          <a:p>
            <a:r>
              <a:t>Safe water is critical </a:t>
            </a:r>
            <a:r>
              <a:rPr/>
              <a:t>for </a:t>
            </a:r>
            <a:r>
              <a:rPr smtClean="0"/>
              <a:t>health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Poor </a:t>
            </a:r>
            <a:r>
              <a:rPr lang="en-US" dirty="0" smtClean="0"/>
              <a:t>quality water leads to diseases and environmental damage.</a:t>
            </a:r>
            <a:endParaRPr/>
          </a:p>
          <a:p>
            <a:endParaRPr lang="en-US" dirty="0" smtClean="0"/>
          </a:p>
          <a:p>
            <a:r>
              <a:rPr smtClean="0"/>
              <a:t>Early </a:t>
            </a:r>
            <a:r>
              <a:t>detection prevents disease</a:t>
            </a:r>
          </a:p>
          <a:p>
            <a:endParaRPr lang="en-US" dirty="0" smtClean="0"/>
          </a:p>
          <a:p>
            <a:r>
              <a:rPr lang="en-US" dirty="0" smtClean="0"/>
              <a:t>Predicting </a:t>
            </a:r>
            <a:r>
              <a:rPr lang="en-US" dirty="0" smtClean="0"/>
              <a:t>and classifying water quality aids policymakers and health authorities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93253"/>
          </a:xfrm>
        </p:spPr>
        <p:txBody>
          <a:bodyPr/>
          <a:lstStyle/>
          <a:p>
            <a:pPr>
              <a:buNone/>
            </a:pPr>
            <a:r>
              <a:rPr b="1" smtClean="0"/>
              <a:t>Source:</a:t>
            </a:r>
            <a:r>
              <a:rPr lang="en-US" dirty="0" smtClean="0"/>
              <a:t> </a:t>
            </a:r>
            <a:r>
              <a:rPr lang="en-US" dirty="0" smtClean="0"/>
              <a:t>MPCB water monitoring (Maharashtra)</a:t>
            </a:r>
            <a:endParaRPr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b="1" smtClean="0"/>
              <a:t>Key Features:</a:t>
            </a:r>
            <a:r>
              <a:rPr lang="en-US" dirty="0" smtClean="0"/>
              <a:t> </a:t>
            </a:r>
            <a:r>
              <a:rPr smtClean="0"/>
              <a:t>pH, DO, BOD, COD, TDS,</a:t>
            </a:r>
            <a:endParaRPr lang="en-US" dirty="0" smtClean="0"/>
          </a:p>
          <a:p>
            <a:pPr>
              <a:buNone/>
            </a:pPr>
            <a:r>
              <a:rPr smtClean="0"/>
              <a:t>Turbidity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b="1" smtClean="0"/>
              <a:t>Target:</a:t>
            </a:r>
            <a:r>
              <a:rPr smtClean="0"/>
              <a:t> Water_Class</a:t>
            </a:r>
            <a:r>
              <a:rPr lang="en-US" dirty="0" smtClean="0"/>
              <a:t> (</a:t>
            </a:r>
            <a:r>
              <a:rPr lang="en-US" dirty="0" smtClean="0"/>
              <a:t>A–E, water </a:t>
            </a:r>
            <a:r>
              <a:rPr lang="en-US" dirty="0" smtClean="0"/>
              <a:t>quality</a:t>
            </a:r>
          </a:p>
          <a:p>
            <a:pPr>
              <a:buNone/>
            </a:pPr>
            <a:r>
              <a:rPr lang="en-US" dirty="0" smtClean="0"/>
              <a:t>categories</a:t>
            </a:r>
            <a:r>
              <a:rPr lang="en-US" dirty="0" smtClean="0"/>
              <a:t>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Quality Classes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1"/>
          <a:ext cx="8229600" cy="4733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4669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Class</a:t>
                      </a:r>
                      <a:endParaRPr 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Designated</a:t>
                      </a:r>
                      <a:r>
                        <a:rPr lang="en-US" sz="2800" baseline="0" dirty="0" smtClean="0"/>
                        <a:t> Use 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Key Criteria</a:t>
                      </a:r>
                      <a:endParaRPr lang="en-US" sz="2800" dirty="0"/>
                    </a:p>
                  </a:txBody>
                  <a:tcPr anchor="ctr"/>
                </a:tc>
              </a:tr>
              <a:tr h="94669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Drinking water source</a:t>
                      </a:r>
                    </a:p>
                    <a:p>
                      <a:pPr algn="ctr"/>
                      <a:r>
                        <a:rPr lang="en-US" dirty="0" smtClean="0"/>
                        <a:t>(after disinfection)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 smtClean="0"/>
                        <a:t>Low BOD, high DO,</a:t>
                      </a:r>
                    </a:p>
                    <a:p>
                      <a:pPr algn="ctr"/>
                      <a:r>
                        <a:rPr lang="en-US" noProof="1" smtClean="0"/>
                        <a:t>low coliform</a:t>
                      </a:r>
                      <a:endParaRPr lang="en-US" noProof="1" smtClean="0"/>
                    </a:p>
                  </a:txBody>
                  <a:tcPr anchor="ctr"/>
                </a:tc>
              </a:tr>
              <a:tr h="94669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Outdoor bathing</a:t>
                      </a:r>
                    </a:p>
                    <a:p>
                      <a:pPr algn="ctr"/>
                      <a:r>
                        <a:rPr lang="en-US" dirty="0" smtClean="0"/>
                        <a:t>(organized)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 smtClean="0"/>
                        <a:t>Moderate BOD/DO,</a:t>
                      </a:r>
                    </a:p>
                    <a:p>
                      <a:pPr algn="ctr"/>
                      <a:r>
                        <a:rPr lang="en-US" noProof="1" smtClean="0"/>
                        <a:t>controlled coliform</a:t>
                      </a:r>
                      <a:endParaRPr lang="en-US" noProof="1" smtClean="0"/>
                    </a:p>
                  </a:txBody>
                  <a:tcPr anchor="ctr"/>
                </a:tc>
              </a:tr>
              <a:tr h="94669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Drinking water source</a:t>
                      </a:r>
                    </a:p>
                    <a:p>
                      <a:pPr algn="ctr"/>
                      <a:r>
                        <a:rPr lang="en-US" dirty="0" smtClean="0"/>
                        <a:t>(conventional treatment)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Higher BOD tolerated,</a:t>
                      </a:r>
                    </a:p>
                    <a:p>
                      <a:pPr algn="ctr"/>
                      <a:r>
                        <a:rPr lang="en-US" dirty="0" smtClean="0"/>
                        <a:t>treatment required</a:t>
                      </a:r>
                    </a:p>
                  </a:txBody>
                  <a:tcPr anchor="ctr"/>
                </a:tc>
              </a:tr>
              <a:tr h="94669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Irrigation, industrial</a:t>
                      </a:r>
                    </a:p>
                    <a:p>
                      <a:pPr algn="ctr"/>
                      <a:r>
                        <a:rPr lang="en-US" dirty="0" smtClean="0"/>
                        <a:t>cooling, controlled waste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Relaxed standards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9450"/>
            <a:ext cx="8229600" cy="1327777"/>
          </a:xfrm>
        </p:spPr>
        <p:txBody>
          <a:bodyPr anchor="t" anchorCtr="0">
            <a:normAutofit fontScale="90000"/>
          </a:bodyPr>
          <a:lstStyle/>
          <a:p>
            <a:r>
              <a:rPr smtClean="0"/>
              <a:t>EDA – </a:t>
            </a:r>
            <a:r>
              <a:rPr lang="en-US" b="0" dirty="0" smtClean="0"/>
              <a:t>Water Quality Class Distribution</a:t>
            </a:r>
            <a:br>
              <a:rPr lang="en-US" b="0" dirty="0" smtClean="0"/>
            </a:br>
            <a:endParaRPr/>
          </a:p>
        </p:txBody>
      </p:sp>
      <p:pic>
        <p:nvPicPr>
          <p:cNvPr id="7" name="Content Placeholder 6" descr="Water_Quality_Class_Distributio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0903" y="1747227"/>
            <a:ext cx="6820249" cy="4671273"/>
          </a:xfrm>
        </p:spPr>
      </p:pic>
      <p:sp>
        <p:nvSpPr>
          <p:cNvPr id="24578" name="AutoShape 2" descr="data:image/png;base64,iVBORw0KGgoAAAANSUhEUgAAAjsAAAHDCAYAAADC/9uyAAAAOnRFWHRTb2Z0d2FyZQBNYXRwbG90bGliIHZlcnNpb24zLjEwLjAsIGh0dHBzOi8vbWF0cGxvdGxpYi5vcmcvlHJYcgAAAAlwSFlzAAAPYQAAD2EBqD+naQAAPlJJREFUeJzt3XlcVHX////nAIKELK4siYo7mJqpebnkiuGaXWlml6mZaZm7ZcXnSi0rNSs1ySS7Si+9tM3StFJTwdyQXDKz1LLcUoFSAcFEhPfvj37OtwkwQWDG4+N+u51bnvf7zPu8DjPBc868zxmbMcYIAADAotycXQAAAEBJIuwAAABLI+wAAABLI+wAAABLI+wAAABLI+wAAABLI+wAAABLI+wAAABLI+wAAABLI+wAKLSNGzfKZrNp48aN9rYHH3xQNWrUcFpNBalRo4YefPBBZ5dxzZ599lnZbLZS2Vf79u3Vvn17+/rl53vZsmWlsn9XfS3h+kXYgeV88MEHstlsWr58eZ6+xo0by2azKT4+Pk9ftWrV1KpVq0Lt64033tDChQuLWmqRZWdna86cOWrevLl8fX1Vrlw5NW/eXDExMbp06VKp15Of8+fP69lnn3UIRMXpp59+0iOPPKKaNWuqbNmy8vPzU+vWrfXaa6/p999/L5F9FpeFCxfKZrPZl7JlyyokJERRUVGaM2eOzp07Vyz7OXnypJ599lnt2bOnWMYrTq5cG6yHsAPLadOmjSRpy5YtDu3p6enat2+fPDw8tHXrVoe+48eP6/jx4/bHXi1nhJ3MzEx17txZY8aMUVBQkKZPn66XX35ZISEhGj16tKKionT+/PlSrUmS3nrrLR08eNC+fv78eT333HMlEnY+++wzNWzYUB988IF69uypmJgYTZs2TdWqVdOECRM0ZsyYYt9nSZgyZYoWL16sefPmadSoUZKksWPHqmHDhtq7d6/Dts8880yhQ9zJkyf13HPPFTpQfPHFF/riiy8K9ZjCulJtf30tAdfKw9kFAMUtJCREYWFhecJOQkKCjDG699578/RdXi9s2CkJly5dUm5urjw9PfPtHz9+vL788kvFxMRo5MiR9vbhw4dr7ty5GjlypCZMmKC5c+eWVsmSpDJlypTKfg4fPqx+/fqpevXqiouLU3BwsL1vxIgROnTokD777LNSqeVade3aVc2aNbOvR0dHKy4uTj169NBdd92l/fv3y9vbW5Lk4eEhD4+S/ZV9/vx53XTTTQW+9kpLab2WcAMxgAUNGDDAlClTxpw/f97eNnHiRHPLLbeYRYsWGX9/f5OTk2PvGzFihLHZbOa3334zxhjzzjvvmA4dOpjKlSsbT09PEx4ebt544w2HfVSvXt1IcljatWtn7z979qwZM2aMqVq1qvH09DS1atUy06dPd9jv4cOHjSTz8ssvm1mzZpmaNWsaNzc38/XXX+d7XMePHzfu7u6mY8eOBR57hw4djIeHh/nll18c9rFgwYI820oykydPtq8fOXLEDB8+3NStW9eULVvWVKhQwfTp08ccPnzY4XHx8fFGkomPj7e3DRo0yFSvXt1hn39dJk+ebN555x0jyezevTtPPS+++KJxc3Oz156fRx991EgyW7duLXCbP6tevboZNGiQff306dPm8ccfN7fccovx8fExvr6+pkuXLmbPnj15HjtnzhwTERFhvL29TUBAgGnatKlZsmSJvT89Pd2MGTPGVK9e3Xh6eprKlSubyMhIs2vXrivWtGDBAiPJ7NixI9/+qVOnGklm/vz59rbJkyebv/7K/uKLL0zr1q2Nv7+/8fHxMXXr1jXR0dHGmP/3HP11ufw6aNeunWnQoIHZuXOnueOOO4y3t7cZM2aMve/Pr+XLY7333nsmOjraBAYGmptuusn07NnTHDt27Io/78v+PObf1fbn19JlGRkZZvz48fb/n+rWrWtefvllk5ub67CdJDNixAizfPly06BBA+Pp6WkiIiLM6tWr8/1Z48bAmR1YUps2bbR48WIlJibaJ1pu3bpVrVq1UqtWrZSWlqZ9+/apUaNG9r769eurYsWKkqR58+apQYMGuuuuu+Th4aFVq1bpscceU25urkaMGCFJmj17tkaNGqVy5crp3//+tyQpMDBQ0h/vkNu1a6cTJ07okUceUbVq1bRt2zZFR0fr1KlTmj17tkO9CxYs0IULFzRs2DB5eXmpQoUK+R7X6tWrlZOTo4EDBxZ47AMHDlR8fLzWrFmjIUOGFOrntmPHDm3btk39+vVT1apVdeTIEc2bN0/t27fX999/r5tuuumqxqlcubLmzZun4cOH65///KfuueceSVKjRo0UFhamESNGaMmSJWrSpInD45YsWaL27dvr5ptvLnDsVatWqWbNmoWeX3XZzz//rBUrVujee+9VWFiYkpOT9eabb6pdu3b6/vvvFRISIumPj1JGjx6tPn36aMyYMbpw4YL27t2rxMRE/etf/5IkPfroo1q2bJlGjhypiIgInT59Wlu2bNH+/ft12223Fak+SRowYID+7//+T1988YWGDh2a7zbfffedevTooUaNGmnKlCny8vLSoUOH7B/RhoeHa8qUKZo0aZKGDRumO+64Q5Icfm6nT59W165d1a9fPz3wwAP2129BXnzxRdlsNj311FNKSUnR7NmzFRkZqT179tjPQF2Nq6ntz4wxuuuuuxQfH68hQ4bo1ltv1dq1azVhwgSdOHFCs2bNcth+y5Yt+vjjj/XYY4/J19dXc+bMUe/evXXs2DH7/+O4wTg7bQEl4bvvvjOSzPPPP2+MMSY7O9v4+PiY//73v8YYYwIDA83cuXONMX+8O3d3dzdDhw61P/7PZ4Qui4qKMjVr1nRoa9CggcM74Muef/554+PjY3744QeH9qefftq4u7vb3w1fPgPi5+dnUlJS/va4xo4dayQVeObHGGN2795tJJnx48c77ONqzuzkd9wJCQlGklm0aJG97e/O7BhjzK+//ppn/Mvuv/9+ExIS4nCW63Ld+dV5WVpampFkevXqVeA2f/XXMw0XLlxw2K8xf/yMvLy8zJQpU+xtvXr1Mg0aNLji2P7+/mbEiBFXXctlf3dm5/LYTZo0sa//9czOrFmzjCTz66+/FjjGjh07CvyZtmvXzkgysbGx+fbld2bn5ptvNunp6fb2Dz74wEgyr732mr3tas7s/F1tf30trVixwkgyL7zwgsN2ffr0MTabzRw6dMjeJsl4eno6tH3zzTdGkomJicmzL9wYmKAMSwoPD1fFihXtc3G++eYbZWZm2t85tmrVyv4OOCEhQTk5OQ7zdf78LjUtLU2//fab2rVrp59//llpaWl/u/8PP/xQd9xxh8qXL6/ffvvNvkRGRionJ0ebNm1y2L53796qXLny3457+SodX1/fAre53FeUK3r+fNzZ2dk6ffq0ateurYCAAO3evbvQ4xVk4MCBOnnypMNVcUuWLJG3t7d69+5d4OPS09MlXfn4/46Xl5fc3P741ZeTk6PTp0+rXLlyqlevnsMxBgQE6JdfftGOHTsKHCsgIECJiYk6efJkkespSLly5a74HAYEBEiSPvnkE+Xm5hZpH15eXho8ePBVbz9w4ECHn32fPn0UHByszz//vEj7v1qff/653N3dNXr0aIf2xx9/XMYYrV692qE9MjJStWrVsq83atRIfn5++vnnn0u0Trguwg4syWazqVWrVtq+fbtyc3O1detWValSRbVr15bkGHYu//fPYWfr1q2KjIyUj4+PAgICVLlyZf3f//2fJF1V2Pnxxx+1Zs0aVa5c2WGJjIyUJKWkpDhsHxYWdlXHdTVB5nJflSpVrmrMP/v99981adIkhYaGysvLS5UqVVLlypWVmpp6Vcd9tTp37qzg4GAtWbJEkpSbm6t3331XvXr1umKQ8fPzk1S0IHdZbm6uZs2apTp16jgc4969ex2O8amnnlK5cuV0++23q06dOhoxYkSeq/hmzJihffv2KTQ0VLfffrueffbZYvuDmpGRccWfxX333afWrVvr4YcfVmBgoPr166cPPvigUMHn5ptvLtRk5Dp16jis22w21a5dW0eOHLnqMYri6NGjCgkJyfPzCA8Pt/f/WbVq1fKMUb58eZ09e7bkioRLI+zAstq0aaO0tDR9++239vk6l7Vq1UpHjx7ViRMntGXLFoWEhKhmzZqS/rh/S6dOnfTbb79p5syZ+uyzz7Ru3TqNGzdOkq7qj0lubq46d+6sdevW5bv89ezF1c53iIiIkKQ8lyX/2eW+y8dT0I3ocnJy8rSNGjVKL774ovr27asPPvhAX3zxhdatW6eKFSsW+exBftzd3fWvf/1LH330kS5cuKD4+HidPHlSDzzwwBUf5+fnp5CQEO3bt6/I+546darGjx+vtm3b6n//+5/Wrl2rdevWqUGDBg7HGB4eroMHD+q9995TmzZt9NFHH6lNmzaaPHmyfZu+ffvq559/VkxMjEJCQvTyyy+rQYMGec40FNYvv/yitLQ0ezjPj7e3tzZt2qT169drwIAB2rt3r+677z517tw53+e2oDGKW2FebyXF3d0933ZjTKnVANfCBGVY1p/vt7N161aNHTvW3te0aVN5eXlp48aNSkxMVLdu3ex9q1atUlZWllauXOnwDjG/GxEW9Iu9Vq1aysjIsJ/JKS5du3aVu7u7Fi9eXOAk5UWLFsnT01O9evWS9Mc7WklKTU112O6v74YladmyZRo0aJBeffVVe9uFCxfyPPZq/N3dfgcOHKhXX31Vq1at0urVq1W5cmVFRUX97bg9evTQ/PnzlZCQoJYtWxa6rmXLlqlDhw56++23HdpTU1NVqVIlhzYfHx/dd999uu+++3Tx4kXdc889evHFFxUdHa2yZctKkoKDg/XYY4/pscceU0pKim677Ta9+OKL6tq1a6Fru2zx4sWS9Lc/Dzc3N3Xq1EmdOnXSzJkzNXXqVP373/9WfHy8IiMji/2Oyz/++KPDujFGhw4dsk/0l/54veX3ejl69Kg9gEt///r4s+rVq2v9+vU6d+6cw9mdAwcO2PuBK+HMDiyrWbNmKlu2rJYsWaITJ044nNnx8vLSbbfdprlz5yozM9PhI6zL7wr//C4wLS1NCxYsyLMPHx+ffH+x9+3bVwkJCVq7dm2evtTU1CLf5bhq1aoaMmSI1q9fr3nz5uXpj42NVVxcnB555BH7VSd+fn6qVKlSnnlCb7zxRp7Hu7u753n3GxMTU6R35Zev3CooKDVq1EiNGjXSf/7zH3300Ufq16/fVd1H5sknn5SPj48efvhhJScn5+n/6aef9NprrxX4+PyO8cMPP9SJEycc2k6fPu2w7unpqYiICBljlJ2drZycnDwf7VWpUkUhISHKysr62+MoSFxcnJ5//nmFhYWpf//+BW535syZPG233nqrJNn37+PjI6ng56CwFi1a5PAR4rJly3Tq1CmHYFerVi1t375dFy9etLd9+umnOn78uMNYhamtW7duysnJ0euvv+7QPmvWLNlstmsKlrgxcGYHluXp6anmzZtr8+bN8vLyUtOmTR36W7VqZT+D8eewc+edd8rT01M9e/bUI488ooyMDL311luqUqWKTp065TBG06ZNNW/ePL3wwguqXbu2qlSpoo4dO2rChAlauXKlevTooQcffFBNmzZVZmamvv32Wy1btkxHjhzJcxbhas2cOVMHDhzQY489pjVr1qhLly6SpLVr1+qTTz5Rx44d9fLLLzs85uGHH9b06dP18MMPq1mzZtq0aZN++OGHPGP36NFDixcvlr+/vyIiIpSQkKD169cX6XJdb29vRURE6P3331fdunVVoUIF3XLLLbrlllvs2wwcOFBPPPGEJP3tR1iX1apVS0uXLtV9992n8PBwDRw4ULfccosuXryobdu26cMPP7zid2H16NFDU6ZM0eDBg9WqVSt9++23WrJkicNZB+mP10FQUJBat26twMBA7d+/X6+//rq6d+8uX19fpaamqmrVqurTp48aN26scuXKaf369dqxY4fDmbErWb16tQ4cOKBLly4pOTlZcXFxWrdunapXr66VK1fazx7lZ8qUKdq0aZO6d++u6tWrKyUlRW+88YaqVq1qfz3XqlVLAQEBio2Nla+vr3x8fNSiRYurniP2VxUqVFCbNm00ePBgJScna/bs2apdu7bD5fEPP/ywli1bpi5duqhv37766aef9L///c9hwnBha+vZs6c6dOigf//73zpy5IgaN26sL774Qp988onGjh2bZ2wgDydeCQaUuOjoaCPJtGrVKk/fxx9/bCQZX19fc+nSJYe+lStXmkaNGpmyZcuaGjVqmJdeesl+M7w/32AvKSnJdO/e3fj6+ua5qeC5c+dMdHS0qV27tvH09DSVKlUyrVq1Mq+88oq5ePGiMcbxpoKFcfHiRTN79mzTtGlTc9NNN9lvyjZo0KA8l1Ub88cl5UOGDDH+/v7G19fX9O3b16SkpOS5NPzs2bNm8ODBplKlSqZcuXImKirKHDhwIM/lxFdz6bkxxmzbts00bdrUeHp65nsZ+qlTp4y7u7upW7duoY7fGGN++OEHM3ToUFOjRg3j6elpfH19TevWrU1MTIy5cOGCfbv8Lj1//PHHTXBwsPH29jatW7c2CQkJeS6NfvPNN03btm1NxYoVjZeXl6lVq5aZMGGCSUtLM8YYk5WVZSZMmGAaN25sfH19jY+Pj2ncuHGem0/m5/Kl55cXT09PExQUZDp37mxee+01h8u7L/vrpecbNmwwvXr1MiEhIcbT09OEhISY+++/P8/tDj755BMTERFhPDw88r2pYH4KuvT83XffNdHR0aZKlSrG29vbdO/e3Rw9ejTP41999VVz8803Gy8vL9O6dWuzc+fOPGNeqbb8Xkvnzp0z48aNMyEhIaZMmTKmTp06V7yp4F8VdEk8bgw2Y5ixBVzv0tPT1a5dO/3000/atGmT/eMMV/fbb78pODhYkyZN0sSJE51dDgCLYs4OYAF+fn5avXq1KlWqpG7duuU7+dgVLVy4UDk5ORowYICzSwFgYZzZAVDq4uLi9P3332vixInq0KGDPv74Y2eXBMDCCDsASl379u21bds2tW7dWv/73/+u+F1YAHCtCDsAAMDSmLMDAAAsjbADAAAsjZsK6o/vMTp58qR8fX2L/fbqAACgZBhjdO7cOYWEhMjNreDzN4QdSSdPnlRoaKizywAAAEVw/PhxVa1atcB+wo5k/2K548ePy8/Pz8nVAACAq5Genq7Q0FCHL4jND2FH/+/bd/38/Ag7AABcZ/5uCgoTlAEAgKURdgAAgKURdgAAgKURdgAAgKURdgAAgKURdgAAgKURdgAAgKURdgAAgKURdgAAgKURdgAAgKURdgAAgKURdgAAgKURdgAAgKU5Nexs2rRJPXv2VEhIiGw2m1asWFHgto8++qhsNptmz57t0H7mzBn1799ffn5+CggI0JAhQ5SRkVGyhQMAgOuGhzN3npmZqcaNG+uhhx7SPffcU+B2y5cv1/bt2xUSEpKnr3///jp16pTWrVun7OxsDR48WMOGDdPSpUtLsvRCq/H0Z84uoVgcmd7d2SUAAFAoTg07Xbt2VdeuXa+4zYkTJzRq1CitXbtW3bs7/qHdv3+/1qxZox07dqhZs2aSpJiYGHXr1k2vvPJKvuEIAADcWFx6zk5ubq4GDBigCRMmqEGDBnn6ExISFBAQYA86khQZGSk3NzclJiYWOG5WVpbS09MdFgAAYE0uHXZeeukleXh4aPTo0fn2JyUlqUqVKg5tHh4eqlChgpKSkgocd9q0afL397cvoaGhxVo3AABwHS4bdnbt2qXXXntNCxculM1mK9axo6OjlZaWZl+OHz9erOMDAADX4bJhZ/PmzUpJSVG1atXk4eEhDw8PHT16VI8//rhq1KghSQoKClJKSorD4y5duqQzZ84oKCiowLG9vLzk5+fnsAAAAGty6gTlKxkwYIAiIyMd2qKiojRgwAANHjxYktSyZUulpqZq165datq0qSQpLi5Oubm5atGiRanXDAAAXI9Tw05GRoYOHTpkXz98+LD27NmjChUqqFq1aqpYsaLD9mXKlFFQUJDq1asnSQoPD1eXLl00dOhQxcbGKjs7WyNHjlS/fv24EgsAAEhy8sdYO3fuVJMmTdSkSRNJ0vjx49WkSRNNmjTpqsdYsmSJ6tevr06dOqlbt25q06aN5s+fX1IlAwCA64xTz+y0b99expir3v7IkSN52ipUqOByNxAEAACuw2UnKAMAABQHwg4AALA0wg4AALA0wg4AALA0wg4AALA0wg4AALA0wg4AALA0wg4AALA0wg4AALA0wg4AALA0wg4AALA0wg4AALA0wg4AALA0wg4AALA0wg4AALA0wg4AALA0wg4AALA0wg4AALA0wg4AALA0wg4AALA0wg4AALA0wg4AALA0wg4AALA0wg4AALA0wg4AALA0wg4AALA0wg4AALA0wg4AALA0wg4AALA0wg4AALA0wg4AALA0wg4AALA0wg4AALA0wg4AALA0wg4AALA0wg4AALA0wg4AALA0wg4AALA0wg4AALA0p4adTZs2qWfPngoJCZHNZtOKFSvsfdnZ2XrqqafUsGFD+fj4KCQkRAMHDtTJkycdxjhz5oz69+8vPz8/BQQEaMiQIcrIyCjlIwEAAK7KqWEnMzNTjRs31ty5c/P0nT9/Xrt379bEiRO1e/duffzxxzp48KDuuusuh+369++v7777TuvWrdOnn36qTZs2adiwYaV1CAAAwMXZjDHG2UVIks1m0/Lly3X33XcXuM2OHTt0++236+jRo6pWrZr279+viIgI7dixQ82aNZMkrVmzRt26ddMvv/yikJCQq9p3enq6/P39lZaWJj8/v+I4nDxqPP1ZiYxb2o5M7+7sEgAAkHT1f7+vqzk7aWlpstlsCggIkCQlJCQoICDAHnQkKTIyUm5ubkpMTCxwnKysLKWnpzssAADAmq6bsHPhwgU99dRTuv/+++3pLSkpSVWqVHHYzsPDQxUqVFBSUlKBY02bNk3+/v72JTQ0tERrBwAAznNdhJ3s7Gz17dtXxhjNmzfvmseLjo5WWlqafTl+/HgxVAkAAFyRh7ML+DuXg87Ro0cVFxfn8JlcUFCQUlJSHLa/dOmSzpw5o6CgoALH9PLykpeXV4nVDAAAXIdLn9m5HHR+/PFHrV+/XhUrVnTob9mypVJTU7Vr1y57W1xcnHJzc9WiRYvSLhcAALggp57ZycjI0KFDh+zrhw8f1p49e1ShQgUFBwerT58+2r17tz799FPl5OTY5+FUqFBBnp6eCg8PV5cuXTR06FDFxsYqOztbI0eOVL9+/a76SiwAAGBtTg07O3fuVIcOHezr48ePlyQNGjRIzz77rFauXClJuvXWWx0eFx8fr/bt20uSlixZopEjR6pTp05yc3NT7969NWfOnFKpHwAAuD6nhp327dvrSrf5uZpbAFWoUEFLly4tzrIAAICFuPScHQAAgGtF2AEAAJZG2AEAAJZG2AEAAJZG2AEAAJZG2AEAAJZG2AEAAJZG2AEAAJZG2AEAAJZG2AEAAJZG2AEAAJZG2AEAAJZG2AEAAJZG2AEAAJZG2AEAAJZG2AEAAJZG2AEAAJZG2AEAAJZG2AEAAJZG2AEAAJZG2AEAAJZG2AEAAJZG2AEAAJZG2AEAAJZG2AEAAJZG2AEAAJZG2AEAAJZG2AEAAJZG2AEAAJZG2AEAAJZG2AEAAJZG2AEAAJZG2AEAAJZG2AEAAJZG2AEAAJZG2AEAAJZG2AEAAJZG2AEAAJZG2AEAAJbm1LCzadMm9ezZUyEhIbLZbFqxYoVDvzFGkyZNUnBwsLy9vRUZGakff/zRYZszZ86of//+8vPzU0BAgIYMGaKMjIxSPAoAAODKnBp2MjMz1bhxY82dOzff/hkzZmjOnDmKjY1VYmKifHx8FBUVpQsXLti36d+/v7777jutW7dOn376qTZt2qRhw4aV1iEAAAAX5+HMnXft2lVdu3bNt88Yo9mzZ+uZZ55Rr169JEmLFi1SYGCgVqxYoX79+mn//v1as2aNduzYoWbNmkmSYmJi1K1bN73yyisKCQkptWMBAACuyWXn7Bw+fFhJSUmKjIy0t/n7+6tFixZKSEiQJCUkJCggIMAedCQpMjJSbm5uSkxMLHDsrKwspaenOywAAMCaXDbsJCUlSZICAwMd2gMDA+19SUlJqlKlikO/h4eHKlSoYN8mP9OmTZO/v799CQ0NLebqAQCAq3DZsFOSoqOjlZaWZl+OHz/u7JIAAEAJcdmwExQUJElKTk52aE9OTrb3BQUFKSUlxaH/0qVLOnPmjH2b/Hh5ecnPz89hAQAA1uSyYScsLExBQUHasGGDvS09PV2JiYlq2bKlJKlly5ZKTU3Vrl277NvExcUpNzdXLVq0KPWaAQCA63Hq1VgZGRk6dOiQff3w4cPas2ePKlSooGrVqmns2LF64YUXVKdOHYWFhWnixIkKCQnR3XffLUkKDw9Xly5dNHToUMXGxio7O1sjR45Uv379uBILAABIcnLY2blzpzp06GBfHz9+vCRp0KBBWrhwoZ588kllZmZq2LBhSk1NVZs2bbRmzRqVLVvW/pglS5Zo5MiR6tSpk9zc3NS7d2/NmTOn1I8FAAC4Jpsxxji7CGdLT0+Xv7+/0tLSSmz+To2nPyuRcUvbkendnV0CAACSrv7vt8vO2QEAACgOhB0AAGBphB0AAGBphB0AAGBphB0AAGBphB0AAGBphB0AAGBphB0AAGBphB0AAGBphB0AAGBphB0AAGBphB0AAGBphB0AAGBphB0AAGBphB0AAGBphB0AAGBphB0AAGBphB0AAGBphB0AAGBphB0AAGBphB0AAGBphB0AAGBphB0AAGBphB0AAGBphB0AAGBphB0AAGBphB0AAGBphB0AAGBphB0AAGBphB0AAGBphB0AAGBphB0AAGBphB0AAGBphB0AAGBphB0AAGBphB0AAGBphB0AAGBphB0AAGBphB0AAGBpLh12cnJyNHHiRIWFhcnb21u1atXS888/L2OMfRtjjCZNmqTg4GB5e3srMjJSP/74oxOrBgAArqRIYadmzZo6ffp0nvbU1FTVrFnzmou67KWXXtK8efP0+uuva//+/XrppZc0Y8YMxcTE2LeZMWOG5syZo9jYWCUmJsrHx0dRUVG6cOFCsdUBAACuXx5FedCRI0eUk5OTpz0rK0snTpy45qIu27Ztm3r16qXu3btLkmrUqKF3331XX331laQ/zurMnj1bzzzzjHr16iVJWrRokQIDA7VixQr169ev2GoBAADXp0KFnZUrV9r/vXbtWvn7+9vXc3JytGHDBtWoUaPYimvVqpXmz5+vH374QXXr1tU333yjLVu2aObMmZKkw4cPKykpSZGRkfbH+Pv7q0WLFkpISCgw7GRlZSkrK8u+np6eXmw1AwAA11KosHP33XdLkmw2mwYNGuTQV6ZMGdWoUUOvvvpqsRX39NNPKz09XfXr15e7u7tycnL04osvqn///pKkpKQkSVJgYKDD4wIDA+19+Zk2bZqee+65YqsTAAC4rkKFndzcXElSWFiYduzYoUqVKpVIUZd98MEHWrJkiZYuXaoGDRpoz549Gjt2rEJCQvKErcKIjo7W+PHj7evp6ekKDQ0tjpIBAICLKdKcncOHDxd3HfmaMGGCnn76afvHUQ0bNtTRo0c1bdo0DRo0SEFBQZKk5ORkBQcH2x+XnJysW2+9tcBxvby85OXlVaK1AwAA11CksCNJGzZs0IYNG5SSkmI/43PZO++8c82FSdL58+fl5uZ4wZi7u7vDGaagoCBt2LDBHm7S09OVmJio4cOHF0sNAADg+laksPPcc89pypQpatasmYKDg2Wz2Yq7LklSz5499eKLL6patWpq0KCBvv76a82cOVMPPfSQpD/mDo0dO1YvvPCC6tSpo7CwME2cOFEhISH2+UUAAODGVqSwExsbq4ULF2rAgAHFXY+DmJgYTZw4UY899phSUlIUEhKiRx55RJMmTbJv8+STTyozM1PDhg1Tamqq2rRpozVr1qhs2bIlWhsAALg+2Myfb0d8lSpWrKivvvpKtWrVKomaSl16err8/f2VlpYmPz+/EtlHjac/K5FxS9uR6d2dXQIAAJKu/u93ke6g/PDDD2vp0qVFLg4AAKC0FOljrAsXLmj+/Plav369GjVqpDJlyjj0X77pHwAAgLMVKezs3bvXfvXTvn37HPpKarIyAABAURQp7MTHxxd3HQAAACWiSHN2AAAArhdFOrPToUOHK35cFRcXV+SCAAAAilORws5fv4ohOztbe/bs0b59+67pO6sAAACKW5HCzqxZs/Jtf/bZZ5WRkXFNBQEAABSnYp2z88ADDxTb92IBAAAUh2INOwkJCXxNAwAAcClF+hjrnnvucVg3xujUqVPauXOnJk6cWCyFAQAAFIcihR1/f3+HdTc3N9WrV09TpkzRnXfeWSyFAQAAFIcihZ0FCxYUdx0AAAAlokhh57Jdu3Zp//79kqQGDRqoSZMmxVIUAABAcSlS2ElJSVG/fv20ceNGBQQESJJSU1PVoUMHvffee6pcuXJx1ggAAFBkRboaa9SoUTp37py+++47nTlzRmfOnNG+ffuUnp6u0aNHF3eNAAAARVakMztr1qzR+vXrFR4ebm+LiIjQ3LlzmaAMAABcSpHO7OTm5qpMmTJ52suUKaPc3NxrLgoAAKC4FCnsdOzYUWPGjNHJkyftbSdOnNC4cePUqVOnYisOAADgWhUp7Lz++utKT09XjRo1VKtWLdWqVUthYWFKT09XTExMcdcIAABQZEWasxMaGqrdu3dr/fr1OnDggCQpPDxckZGRxVocAADAtSrUmZ24uDhFREQoPT1dNptNnTt31qhRozRq1Cg1b95cDRo00ObNm0uqVgAAgEIrVNiZPXu2hg4dKj8/vzx9/v7+euSRRzRz5sxiKw4AAOBaFSrsfPPNN+rSpUuB/Xfeead27dp1zUUBAAAUl0KFneTk5HwvOb/Mw8NDv/766zUXBQAAUFwKFXZuvvlm7du3r8D+vXv3Kjg4+JqLAgAAKC6FCjvdunXTxIkTdeHChTx9v//+uyZPnqwePXoUW3EAAADXqlCXnj/zzDP6+OOPVbduXY0cOVL16tWTJB04cEBz585VTk6O/v3vf5dIoQAAAEVRqLATGBiobdu2afjw4YqOjpYxRpJks9kUFRWluXPnKjAwsEQKBQAAKIpC31SwevXq+vzzz3X27FkdOnRIxhjVqVNH5cuXL4n6AAAArkmR7qAsSeXLl1fz5s2LsxYAAIBiV6TvxgIAALheEHYAAIClEXYAAIClEXYAAIClEXYAAIClEXYAAIClEXYAAIClEXYAAICluXzYOXHihB544AFVrFhR3t7eatiwoXbu3GnvN8Zo0qRJCg4Olre3tyIjI/Xjjz86sWIAAOBKXDrsnD17Vq1bt1aZMmW0evVqff/993r11VcdvppixowZmjNnjmJjY5WYmCgfHx9FRUXl+83sAADgxlPkr4soDS+99JJCQ0O1YMECe1tYWJj938YYzZ49W88884x69eolSVq0aJECAwO1YsUK9evXr9RrBgAArsWlz+ysXLlSzZo107333qsqVaqoSZMmeuutt+z9hw8fVlJSkiIjI+1t/v7+atGihRISEgocNysrS+np6Q4LAACwJpcOOz///LPmzZunOnXqaO3atRo+fLhGjx6t//73v5KkpKQkSVJgYKDD4wIDA+19+Zk2bZr8/f3tS2hoaMkdBAAAcCqXDju5ubm67bbbNHXqVDVp0kTDhg3T0KFDFRsbe03jRkdHKy0tzb4cP368mCoGAACuxqXDTnBwsCIiIhzawsPDdezYMUlSUFCQJCk5Odlhm+TkZHtffry8vOTn5+ewAAAAa3LpsNO6dWsdPHjQoe2HH35Q9erVJf0xWTkoKEgbNmyw96enpysxMVEtW7Ys1VoBAIBrcumrscaNG6dWrVpp6tSp6tu3r7766ivNnz9f8+fPlyTZbDaNHTtWL7zwgurUqaOwsDBNnDhRISEhuvvuu51bPAAAcAkuHXaaN2+u5cuXKzo6WlOmTFFYWJhmz56t/v3727d58sknlZmZqWHDhik1NVVt2rTRmjVrVLZsWSdWDgAAXIXNGGOcXYSzpaeny9/fX2lpaSU2f6fG05+VyLil7cj07s4uAQAASVf/99ul5+wAAABcK8IOAACwNMIOAACwNMIOAACwNMIOAACwNMIOAACwNMIOAACwNMIOAACwNMIOAACwNMIOAACwNMIOAACwNMIOAACwNMIOAACwNMIOAACwNMIOAACwNMIOAACwNMIOAACwNMIOAACwNMIOAACwNMIOAACwNMIOAACwNMIOAACwNMIOAACwNMIOAACwNMIOAACwNMIOAACwNMIOAACwNMIOAACwNMIOAACwNMIOAACwNMIOAACwNMIOAACwNMIOAACwNA9nFwA4Q42nP3N2CdfsyPTuzi4BAK4LnNkBAACWRtgBAACWRtgBAACWRtgBAACWRtgBAACWdl2FnenTp8tms2ns2LH2tgsXLmjEiBGqWLGiypUrp969eys5Odl5RQIAAJdy3YSdHTt26M0331SjRo0c2seNG6dVq1bpww8/1JdffqmTJ0/qnnvucVKVAADA1VwXYScjI0P9+/fXW2+9pfLly9vb09LS9Pbbb2vmzJnq2LGjmjZtqgULFmjbtm3avn17geNlZWUpPT3dYQEAANZ0XYSdESNGqHv37oqMjHRo37Vrl7Kzsx3a69evr2rVqikhIaHA8aZNmyZ/f3/7EhoaWmK1AwAA53L5sPPee+9p9+7dmjZtWp6+pKQkeXp6KiAgwKE9MDBQSUlJBY4ZHR2ttLQ0+3L8+PHiLhsAALgIl/66iOPHj2vMmDFat26dypYtW2zjenl5ycvLq9jGAwAArsulz+zs2rVLKSkpuu222+Th4SEPDw99+eWXmjNnjjw8PBQYGKiLFy8qNTXV4XHJyckKCgpyTtEAAMCluPSZnU6dOunbb791aBs8eLDq16+vp556SqGhoSpTpow2bNig3r17S5IOHjyoY8eOqWXLls4oGQAAuBiXDju+vr665ZZbHNp8fHxUsWJFe/uQIUM0fvx4VahQQX5+fho1apRatmypf/zjH84oGQAAuBiXDjtXY9asWXJzc1Pv3r2VlZWlqKgovfHGG84uCwAAuIjrLuxs3LjRYb1s2bKaO3eu5s6d65yCAACAS3PpCcoAAADXirADAAAsjbADAAAsjbADAAAsjbADAAAsjbADAAAsjbADAAAsjbADAAAsjbADAAAsjbADAAAsjbADAAAsjbADAAAsjbADAAAsjbADAAAsjbADAAAsjbADAAAsjbADAAAsjbADAAAsjbADAAAsjbADAAAsjbADAAAsjbADAAAsjbADAAAsjbADAAAsjbADAAAsjbADAAAsjbADAAAsjbADAAAsjbADAAAsjbADAAAsjbADAAAsjbADAAAsjbADAAAsjbADAAAsjbADAAAsjbADAAAsjbADAAAsjbADAAAsjbADAAAszaXDzrRp09S8eXP5+vqqSpUquvvuu3Xw4EGHbS5cuKARI0aoYsWKKleunHr37q3k5GQnVQwAAFyNS4edL7/8UiNGjND27du1bt06ZWdn684771RmZqZ9m3HjxmnVqlX68MMP9eWXX+rkyZO65557nFg1AABwJR7OLuBK1qxZ47C+cOFCValSRbt27VLbtm2Vlpamt99+W0uXLlXHjh0lSQsWLFB4eLi2b9+uf/zjH/mOm5WVpaysLPt6enp6yR0EAABwKpc+s/NXaWlpkqQKFSpIknbt2qXs7GxFRkbat6lfv76qVaumhISEAseZNm2a/P397UtoaGjJFg4AAJzmugk7ubm5Gjt2rFq3bq1bbrlFkpSUlCRPT08FBAQ4bBsYGKikpKQCx4qOjlZaWpp9OX78eEmWDgAAnMilP8b6sxEjRmjfvn3asmXLNY/l5eUlLy+vYqgKAAC4uusi7IwcOVKffvqpNm3apKpVq9rbg4KCdPHiRaWmpjqc3UlOTlZQUJATKgVQWDWe/szZJVyzI9O7O7sEAFfg0h9jGWM0cuRILV++XHFxcQoLC3Pob9q0qcqUKaMNGzbY2w4ePKhjx46pZcuWpV0uAABwQS59ZmfEiBFaunSpPvnkE/n6+trn4fj7+8vb21v+/v4aMmSIxo8frwoVKsjPz0+jRo1Sy5YtC7wSCwAA3FhcOuzMmzdPktS+fXuH9gULFujBBx+UJM2aNUtubm7q3bu3srKyFBUVpTfeeKOUKwUAAK7KpcOOMeZvtylbtqzmzp2ruXPnlkJFAADgeuPSc3YAAACuFWEHAABYGmEHAABYGmEHAABYGmEHAABYGmEHAABYGmEHAABYGmEHAABYGmEHAABYGmEHAABYGmEHAABYGmEHAABYGmEHAABYGmEHAABYGmEHAABYGmEHAABYGmEHAABYGmEHAABYGmEHAABYGmEHAABYGmEHAABYGmEHAABYGmEHAABYGmEHAABYGmEHAABYGmEHAABYGmEHAABYmoezCwAAuIYaT3/m7BKKxZHp3Z1dAlwMZ3YAAIClEXYAAICl8TEWAAAuho8UixdndgAAgKURdgAAgKURdgAAgKURdgAAgKURdgAAgKURdgAAgKURdgAAgKVZJuzMnTtXNWrUUNmyZdWiRQt99dVXzi4JAAC4AEuEnffff1/jx4/X5MmTtXv3bjVu3FhRUVFKSUlxdmkAAMDJLBF2Zs6cqaFDh2rw4MGKiIhQbGysbrrpJr3zzjvOLg0AADjZdf91ERcvXtSuXbsUHR1tb3Nzc1NkZKQSEhLyfUxWVpaysrLs62lpaZKk9PT0EqszN+t8iY1dmkryZ1SarPB88Fy4Dp4L12KF54PnonDjG2OuuN11H3Z+++035eTkKDAw0KE9MDBQBw4cyPcx06ZN03PPPZenPTQ0tERqtBL/2c6uAJfxXLgOngvXwvPhOkrruTh37pz8/f0L7L/uw05RREdHa/z48fb13NxcnTlzRhUrVpTNZnNiZUWXnp6u0NBQHT9+XH5+fs4u54bGc+FaeD5cB8+F67DKc2GM0blz5xQSEnLF7a77sFOpUiW5u7srOTnZoT05OVlBQUH5PsbLy0teXl4ObQEBASVVYqny8/O7rl+4VsJz4Vp4PlwHz4XrsMJzcaUzOpdd9xOUPT091bRpU23YsMHelpubqw0bNqhly5ZOrAwAALiC6/7MjiSNHz9egwYNUrNmzXT77bdr9uzZyszM1ODBg51dGgAAcDJLhJ377rtPv/76qyZNmqSkpCTdeuutWrNmTZ5Jy1bm5eWlyZMn5/l4DqWP58K18Hy4Dp4L13GjPRc283fXawEAAFzHrvs5OwAAAFdC2AEAAJZG2AEAAJZG2AEAAJZG2LGgffv2ObsEAABcBmHHIs6dO6f58+fr9ttvV+PGjZ1dDoAbXFxcnCIiIvL9Isi0tDQ1aNBAmzdvdkJluBERdq5zmzZt0qBBgxQcHKxXXnlFHTt21Pbt251dFuAU3bp1U1pamn19+vTpSk1Nta+fPn1aERERTqjsxjN79mwNHTo0368i8Pf31yOPPKKZM2c6obIb1+nTp+3/Pn78uCZNmqQJEybcEKGT++xch5KSkrRw4UK9/fbbSk9PV9++fRUbG6tvvvmGX+RO4Obm9rdfIGuz2XTp0qVSqujG5e7urlOnTqlKlSqS/vjenz179qhmzZqS/vjOvJCQEOXk5DizzBtC9erVtWbNGoWHh+fbf+DAAd155506duxYKVd24/n222/Vs2dPHT9+XHXq1NF7772nLl26KDMzU25ubsrMzNSyZct09913O7vUEmOJOyjfSHr27KlNmzape/fumj17trp06SJ3d3fFxsY6u7Qb1vLlywvsS0hI0Jw5c5Sbm1uKFd24/vrejfdyzpOcnKwyZcoU2O/h4aFff/21FCu6cT355JNq2LChlixZosWLF6tHjx7q3r273nrrLUnSqFGjNH36dMIOXMfq1as1evRoDR8+XHXq1HF2OZDUq1evPG0HDx7U008/rVWrVql///6aMmWKEyoDnOfmm2/Wvn37VLt27Xz79+7dq+Dg4FKu6sa0Y8cOxcXFqVGjRmrcuLHmz5+vxx57TG5uf8xkGTVqlP7xj384ucqSxZyd68yWLVt07tw5NW3aVC1atNDrr7+u3377zdll4f938uRJDR06VA0bNtSlS5e0Z88e/fe//1X16tWdXdoNwWaz5flI8e8+YkTJ6NatmyZOnKgLFy7k6fv99981efJk9ejRwwmV3XjOnDmjoKAgSVK5cuXk4+Oj8uXL2/vLly+vc+fOOau8UsGcnetUZmam3n//fb3zzjv66quvlJOTo5kzZ+qhhx6Sr6+vs8u74aSlpWnq1KmKiYnRrbfeqpdeekl33HGHs8u64bi5ualr1672LzdctWqVOnbsKB8fH0lSVlaW1qxZw5ydUpCcnKzbbrtN7u7uGjlypOrVqyfpj7k6c+fOVU5Ojnbv3n1DfWGzs7i5uSk5OVmVK1eWJPn6+mrv3r0KCwuTdGPMZSPsWMDBgwf19ttva/HixUpNTVXnzp21cuVKZ5d1w5gxY4ZeeuklBQUFaerUqfl+rIXSMXjw4KvabsGCBSVcCSTp6NGjGj58uNauXWufP2Wz2RQVFaW5c+fa/9iiZPEmgLBjKTk5OVq1apXeeecdwk4pcnNzk7e3tyIjI+Xu7l7gdh9//HEpVgW4jrNnz+rQoUMyxqhOnToOH6Gg5PEmgLADXLMHH3zwquaFWPkXCQC4MsIOAACwNK7GAgAAlkbYAQAAlkbYAQAAlkbYAQAAlkbYAYArWLhwoQICApxdBoBrQNgBcE1iY2Pl6+vr8K3uGRkZKlOmjNq3b++w7caNG2Wz2fTTTz/97biXt01NTS3mih3Fx8erW7duqlixom666SZFRETo8ccf14kTJ0p0vwBKD2EHwDXp0KGDMjIytHPnTnvb5s2bFRQUpMTERIfvRoqPj1e1atVUq1atUqvPGOMQxP7szTffVGRkpIKCgvTRRx/p+++/V2xsrNLS0vTqq6+WWo0AShZhB8A1qVevnoKDg7Vx40Z728aNG9WrVy+FhYVp+/btDu0dOnSQJC1evFjNmjWTr6+vgoKC9K9//UspKSmSpCNHjti3K1++vGw2mx588EFJUm5urqZNm6awsDB5e3urcePGWrZsmcM+bDabVq9eraZNm8rLy0tbtmzJU/cvv/yi0aNHa/To0XrnnXfUvn171ahRQ23bttV//vMfTZo0Kd/j/emnn9SrVy8FBgaqXLlyat68udavX++wzRtvvKE6deqobNmyCgwMVJ8+fex9y5YtU8OGDeXt7a2KFSsqMjJSmZmZhfiJAygswg6Aa9ahQwfFx8fb1+Pj49W+fXu1a9fO3v77778rMTHRHmKys7P1/PPP65tvvtGKFSt05MgRe6AJDQ3VRx99JOmP7347deqUXnvtNUnStGnTtGjRIsXGxuq7777TuHHj9MADD+jLL790qOnpp5/W9OnTtX//fjVq1ChPzR9++KEuXryoJ598Mt9jKmieTkZGhrp166YNGzbo66+/VpcuXdSzZ08dO3ZMkrRz506NHj1aU6ZM0cGDB7VmzRq1bdtWknTq1Cndf//9euihh7R//35t3LhR99xzj7i3K1DCDABco7feesv4+PiY7Oxsk56ebjw8PExKSopZunSpadu2rTHGmA0bNhhJ5ujRo/mOsWPHDiPJnDt3zhhjTHx8vJFkzp49a9/mwoUL5qabbjLbtm1zeOyQIUPM/fff7/C4FStWXLHm4cOHGz8/v789tgULFhh/f/8rbtOgQQMTExNjjDHmo48+Mn5+fiY9PT3Pdrt27TKSzJEjR/52vwCKD2d2AFyz9u3bKzMzUzt27NDmzZtVt25dVa5cWe3atbPP29m4caNq1qypatWqSZJ27dqlnj17qlq1avL19VW7du0kyX6GJD+HDh3S+fPn1blzZ5UrV86+LFq0KM+k52bNml2xZmPMVX2n2V9lZGToiSeeUHh4uAICAlSuXDnt37/fXnfnzp1VvXp11axZUwMGDNCSJUt0/vx5SVLjxo3VqVMnNWzYUPfee6/eeustnT17ttA1ACgcwg6Aa1a7dm1VrVpV8fHxio+PtweXkJAQhYaGatu2bYqPj1fHjh0lSZmZmYqKipKfn5+WLFmiHTt2aPny5ZKkixcvFrifjIwMSdJnn32mPXv22Jfvv//eYd6OJPn4+Fyx5rp16yotLU2nTp0q1LE+8cQTWr58uaZOnarNmzdrz549atiwob1uX19f7d69W++++66Cg4M1adIkNW7cWKmpqXJ3d9e6deu0evVqRUREKCYmRvXq1dPhw4cLVQOAwiHsACgWHTp00MaNG7Vx40aHS87btm2r1atX66uvvrLP1zlw4IBOnz6t6dOn64477lD9+vXtk5Mv8/T0lCTl5OTY2yIiIuTl5aVjx46pdu3aDktoaGih6u3Tp488PT01Y8aMfPsLuuR969atevDBB/XPf/5TDRs2VFBQkI4cOeKwjYeHhyIjIzVjxgzt3btXR44cUVxcnCTJZrOpdevWeu655/T111/L09PTHvQAlAwPZxcAwBo6dOigESNGKDs7235mR5LatWunkSNH6uLFi/awU61aNXl6eiomJkaPPvqo9u3bp+eff95hvOrVq8tms+nTTz9Vt27d5O3tLV9fXz3xxBMaN26ccnNz1aZNG6WlpWnr1q3y8/PToEGDrrre0NBQzZo1SyNHjlR6eroGDhyoGjVq6JdfftGiRYtUrly5fC8/r1Onjj7++GP17NlTNptNEydOVG5urr3/008/1c8//6y2bduqfPny+vzzz5Wbm6t69eopMTFRGzZs0J133qkqVaooMTFRv/76q8LDwwv74wZQGM6eNATAGg4fPmwkmfr16zu0HzlyxEgy9erVc2hfunSpqVGjhvHy8jItW7Y0K1euNJLM119/bd9mypQpJigoyNhsNjNo0CBjjDG5ublm9uzZpl69eqZMmTKmcuXKJioqynz55ZfGmPwnNl/JunXrTFRUlClfvrwpW7asqV+/vnniiSfMyZMnjTF5JygfPnzYdOjQwXh7e5vQ0FDz+uuvm3bt2pkxY8YYY4zZvHmzadeunSlfvrzx9vY2jRo1Mu+//74xxpjvv//eREVFmcqVKxsvLy9Tt25d+8RmACXHZgzXPAIAAOtizg4AALA0wg4AALA0wg4AALA0wg4AALA0wg4AALA0wg4AALA0wg4AALA0wg4AALA0wg4AALA0wg4AALA0wg4AALC0/w/d6iaZZYiHq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580" name="AutoShape 4" descr="data:image/png;base64,iVBORw0KGgoAAAANSUhEUgAAAjsAAAHDCAYAAADC/9uyAAAAOnRFWHRTb2Z0d2FyZQBNYXRwbG90bGliIHZlcnNpb24zLjEwLjAsIGh0dHBzOi8vbWF0cGxvdGxpYi5vcmcvlHJYcgAAAAlwSFlzAAAPYQAAD2EBqD+naQAAPlJJREFUeJzt3XlcVHX////nAIKELK4siYo7mJqpebnkiuGaXWlml6mZaZm7ZcXnSi0rNSs1ySS7Si+9tM3StFJTwdyQXDKz1LLcUoFSAcFEhPfvj37OtwkwQWDG4+N+u51bnvf7zPu8DjPBc868zxmbMcYIAADAotycXQAAAEBJIuwAAABLI+wAAABLI+wAAABLI+wAAABLI+wAAABLI+wAAABLI+wAAABLI+wAAABLI+wAKLSNGzfKZrNp48aN9rYHH3xQNWrUcFpNBalRo4YefPBBZ5dxzZ599lnZbLZS2Vf79u3Vvn17+/rl53vZsmWlsn9XfS3h+kXYgeV88MEHstlsWr58eZ6+xo0by2azKT4+Pk9ftWrV1KpVq0Lt64033tDChQuLWmqRZWdna86cOWrevLl8fX1Vrlw5NW/eXDExMbp06VKp15Of8+fP69lnn3UIRMXpp59+0iOPPKKaNWuqbNmy8vPzU+vWrfXaa6/p999/L5F9FpeFCxfKZrPZl7JlyyokJERRUVGaM2eOzp07Vyz7OXnypJ599lnt2bOnWMYrTq5cG6yHsAPLadOmjSRpy5YtDu3p6enat2+fPDw8tHXrVoe+48eP6/jx4/bHXi1nhJ3MzEx17txZY8aMUVBQkKZPn66XX35ZISEhGj16tKKionT+/PlSrUmS3nrrLR08eNC+fv78eT333HMlEnY+++wzNWzYUB988IF69uypmJgYTZs2TdWqVdOECRM0ZsyYYt9nSZgyZYoWL16sefPmadSoUZKksWPHqmHDhtq7d6/Dts8880yhQ9zJkyf13HPPFTpQfPHFF/riiy8K9ZjCulJtf30tAdfKw9kFAMUtJCREYWFhecJOQkKCjDG699578/RdXi9s2CkJly5dUm5urjw9PfPtHz9+vL788kvFxMRo5MiR9vbhw4dr7ty5GjlypCZMmKC5c+eWVsmSpDJlypTKfg4fPqx+/fqpevXqiouLU3BwsL1vxIgROnTokD777LNSqeVade3aVc2aNbOvR0dHKy4uTj169NBdd92l/fv3y9vbW5Lk4eEhD4+S/ZV9/vx53XTTTQW+9kpLab2WcAMxgAUNGDDAlClTxpw/f97eNnHiRHPLLbeYRYsWGX9/f5OTk2PvGzFihLHZbOa3334zxhjzzjvvmA4dOpjKlSsbT09PEx4ebt544w2HfVSvXt1IcljatWtn7z979qwZM2aMqVq1qvH09DS1atUy06dPd9jv4cOHjSTz8ssvm1mzZpmaNWsaNzc38/XXX+d7XMePHzfu7u6mY8eOBR57hw4djIeHh/nll18c9rFgwYI820oykydPtq8fOXLEDB8+3NStW9eULVvWVKhQwfTp08ccPnzY4XHx8fFGkomPj7e3DRo0yFSvXt1hn39dJk+ebN555x0jyezevTtPPS+++KJxc3Oz156fRx991EgyW7duLXCbP6tevboZNGiQff306dPm8ccfN7fccovx8fExvr6+pkuXLmbPnj15HjtnzhwTERFhvL29TUBAgGnatKlZsmSJvT89Pd2MGTPGVK9e3Xh6eprKlSubyMhIs2vXrivWtGDBAiPJ7NixI9/+qVOnGklm/vz59rbJkyebv/7K/uKLL0zr1q2Nv7+/8fHxMXXr1jXR0dHGmP/3HP11ufw6aNeunWnQoIHZuXOnueOOO4y3t7cZM2aMve/Pr+XLY7333nsmOjraBAYGmptuusn07NnTHDt27Io/78v+PObf1fbn19JlGRkZZvz48fb/n+rWrWtefvllk5ub67CdJDNixAizfPly06BBA+Pp6WkiIiLM6tWr8/1Z48bAmR1YUps2bbR48WIlJibaJ1pu3bpVrVq1UqtWrZSWlqZ9+/apUaNG9r769eurYsWKkqR58+apQYMGuuuuu+Th4aFVq1bpscceU25urkaMGCFJmj17tkaNGqVy5crp3//+tyQpMDBQ0h/vkNu1a6cTJ07okUceUbVq1bRt2zZFR0fr1KlTmj17tkO9CxYs0IULFzRs2DB5eXmpQoUK+R7X6tWrlZOTo4EDBxZ47AMHDlR8fLzWrFmjIUOGFOrntmPHDm3btk39+vVT1apVdeTIEc2bN0/t27fX999/r5tuuumqxqlcubLmzZun4cOH65///KfuueceSVKjRo0UFhamESNGaMmSJWrSpInD45YsWaL27dvr5ptvLnDsVatWqWbNmoWeX3XZzz//rBUrVujee+9VWFiYkpOT9eabb6pdu3b6/vvvFRISIumPj1JGjx6tPn36aMyYMbpw4YL27t2rxMRE/etf/5IkPfroo1q2bJlGjhypiIgInT59Wlu2bNH+/ft12223Fak+SRowYID+7//+T1988YWGDh2a7zbfffedevTooUaNGmnKlCny8vLSoUOH7B/RhoeHa8qUKZo0aZKGDRumO+64Q5Icfm6nT59W165d1a9fPz3wwAP2129BXnzxRdlsNj311FNKSUnR7NmzFRkZqT179tjPQF2Nq6ntz4wxuuuuuxQfH68hQ4bo1ltv1dq1azVhwgSdOHFCs2bNcth+y5Yt+vjjj/XYY4/J19dXc+bMUe/evXXs2DH7/+O4wTg7bQEl4bvvvjOSzPPPP2+MMSY7O9v4+PiY//73v8YYYwIDA83cuXONMX+8O3d3dzdDhw61P/7PZ4Qui4qKMjVr1nRoa9CggcM74Muef/554+PjY3744QeH9qefftq4u7vb3w1fPgPi5+dnUlJS/va4xo4dayQVeObHGGN2795tJJnx48c77ONqzuzkd9wJCQlGklm0aJG97e/O7BhjzK+//ppn/Mvuv/9+ExIS4nCW63Ld+dV5WVpampFkevXqVeA2f/XXMw0XLlxw2K8xf/yMvLy8zJQpU+xtvXr1Mg0aNLji2P7+/mbEiBFXXctlf3dm5/LYTZo0sa//9czOrFmzjCTz66+/FjjGjh07CvyZtmvXzkgysbGx+fbld2bn5ptvNunp6fb2Dz74wEgyr732mr3tas7s/F1tf30trVixwkgyL7zwgsN2ffr0MTabzRw6dMjeJsl4eno6tH3zzTdGkomJicmzL9wYmKAMSwoPD1fFihXtc3G++eYbZWZm2t85tmrVyv4OOCEhQTk5OQ7zdf78LjUtLU2//fab2rVrp59//llpaWl/u/8PP/xQd9xxh8qXL6/ffvvNvkRGRionJ0ebNm1y2L53796qXLny3457+SodX1/fAre53FeUK3r+fNzZ2dk6ffq0ateurYCAAO3evbvQ4xVk4MCBOnnypMNVcUuWLJG3t7d69+5d4OPS09MlXfn4/46Xl5fc3P741ZeTk6PTp0+rXLlyqlevnsMxBgQE6JdfftGOHTsKHCsgIECJiYk6efJkkespSLly5a74HAYEBEiSPvnkE+Xm5hZpH15eXho8ePBVbz9w4ECHn32fPn0UHByszz//vEj7v1qff/653N3dNXr0aIf2xx9/XMYYrV692qE9MjJStWrVsq83atRIfn5++vnnn0u0Trguwg4syWazqVWrVtq+fbtyc3O1detWValSRbVr15bkGHYu//fPYWfr1q2KjIyUj4+PAgICVLlyZf3f//2fJF1V2Pnxxx+1Zs0aVa5c2WGJjIyUJKWkpDhsHxYWdlXHdTVB5nJflSpVrmrMP/v99981adIkhYaGysvLS5UqVVLlypWVmpp6Vcd9tTp37qzg4GAtWbJEkpSbm6t3331XvXr1umKQ8fPzk1S0IHdZbm6uZs2apTp16jgc4969ex2O8amnnlK5cuV0++23q06dOhoxYkSeq/hmzJihffv2KTQ0VLfffrueffbZYvuDmpGRccWfxX333afWrVvr4YcfVmBgoPr166cPPvigUMHn5ptvLtRk5Dp16jis22w21a5dW0eOHLnqMYri6NGjCgkJyfPzCA8Pt/f/WbVq1fKMUb58eZ09e7bkioRLI+zAstq0aaO0tDR9++239vk6l7Vq1UpHjx7ViRMntGXLFoWEhKhmzZqS/rh/S6dOnfTbb79p5syZ+uyzz7Ru3TqNGzdOkq7qj0lubq46d+6sdevW5bv89ezF1c53iIiIkKQ8lyX/2eW+y8dT0I3ocnJy8rSNGjVKL774ovr27asPPvhAX3zxhdatW6eKFSsW+exBftzd3fWvf/1LH330kS5cuKD4+HidPHlSDzzwwBUf5+fnp5CQEO3bt6/I+546darGjx+vtm3b6n//+5/Wrl2rdevWqUGDBg7HGB4eroMHD+q9995TmzZt9NFHH6lNmzaaPHmyfZu+ffvq559/VkxMjEJCQvTyyy+rQYMGec40FNYvv/yitLQ0ezjPj7e3tzZt2qT169drwIAB2rt3r+677z517tw53+e2oDGKW2FebyXF3d0933ZjTKnVANfCBGVY1p/vt7N161aNHTvW3te0aVN5eXlp48aNSkxMVLdu3ex9q1atUlZWllauXOnwDjG/GxEW9Iu9Vq1aysjIsJ/JKS5du3aVu7u7Fi9eXOAk5UWLFsnT01O9evWS9Mc7WklKTU112O6v74YladmyZRo0aJBeffVVe9uFCxfyPPZq/N3dfgcOHKhXX31Vq1at0urVq1W5cmVFRUX97bg9evTQ/PnzlZCQoJYtWxa6rmXLlqlDhw56++23HdpTU1NVqVIlhzYfHx/dd999uu+++3Tx4kXdc889evHFFxUdHa2yZctKkoKDg/XYY4/pscceU0pKim677Ta9+OKL6tq1a6Fru2zx4sWS9Lc/Dzc3N3Xq1EmdOnXSzJkzNXXqVP373/9WfHy8IiMji/2Oyz/++KPDujFGhw4dsk/0l/54veX3ejl69Kg9gEt///r4s+rVq2v9+vU6d+6cw9mdAwcO2PuBK+HMDiyrWbNmKlu2rJYsWaITJ044nNnx8vLSbbfdprlz5yozM9PhI6zL7wr//C4wLS1NCxYsyLMPHx+ffH+x9+3bVwkJCVq7dm2evtTU1CLf5bhq1aoaMmSI1q9fr3nz5uXpj42NVVxcnB555BH7VSd+fn6qVKlSnnlCb7zxRp7Hu7u753n3GxMTU6R35Zev3CooKDVq1EiNGjXSf/7zH3300Ufq16/fVd1H5sknn5SPj48efvhhJScn5+n/6aef9NprrxX4+PyO8cMPP9SJEycc2k6fPu2w7unpqYiICBljlJ2drZycnDwf7VWpUkUhISHKysr62+MoSFxcnJ5//nmFhYWpf//+BW535syZPG233nqrJNn37+PjI6ng56CwFi1a5PAR4rJly3Tq1CmHYFerVi1t375dFy9etLd9+umnOn78uMNYhamtW7duysnJ0euvv+7QPmvWLNlstmsKlrgxcGYHluXp6anmzZtr8+bN8vLyUtOmTR36W7VqZT+D8eewc+edd8rT01M9e/bUI488ooyMDL311luqUqWKTp065TBG06ZNNW/ePL3wwguqXbu2qlSpoo4dO2rChAlauXKlevTooQcffFBNmzZVZmamvv32Wy1btkxHjhzJcxbhas2cOVMHDhzQY489pjVr1qhLly6SpLVr1+qTTz5Rx44d9fLLLzs85uGHH9b06dP18MMPq1mzZtq0aZN++OGHPGP36NFDixcvlr+/vyIiIpSQkKD169cX6XJdb29vRURE6P3331fdunVVoUIF3XLLLbrlllvs2wwcOFBPPPGEJP3tR1iX1apVS0uXLtV9992n8PBwDRw4ULfccosuXryobdu26cMPP7zid2H16NFDU6ZM0eDBg9WqVSt9++23WrJkicNZB+mP10FQUJBat26twMBA7d+/X6+//rq6d+8uX19fpaamqmrVqurTp48aN26scuXKaf369dqxY4fDmbErWb16tQ4cOKBLly4pOTlZcXFxWrdunapXr66VK1fazx7lZ8qUKdq0aZO6d++u6tWrKyUlRW+88YaqVq1qfz3XqlVLAQEBio2Nla+vr3x8fNSiRYurniP2VxUqVFCbNm00ePBgJScna/bs2apdu7bD5fEPP/ywli1bpi5duqhv37766aef9L///c9hwnBha+vZs6c6dOigf//73zpy5IgaN26sL774Qp988onGjh2bZ2wgDydeCQaUuOjoaCPJtGrVKk/fxx9/bCQZX19fc+nSJYe+lStXmkaNGpmyZcuaGjVqmJdeesl+M7w/32AvKSnJdO/e3fj6+ua5qeC5c+dMdHS0qV27tvH09DSVKlUyrVq1Mq+88oq5ePGiMcbxpoKFcfHiRTN79mzTtGlTc9NNN9lvyjZo0KA8l1Ub88cl5UOGDDH+/v7G19fX9O3b16SkpOS5NPzs2bNm8ODBplKlSqZcuXImKirKHDhwIM/lxFdz6bkxxmzbts00bdrUeHp65nsZ+qlTp4y7u7upW7duoY7fGGN++OEHM3ToUFOjRg3j6elpfH19TevWrU1MTIy5cOGCfbv8Lj1//PHHTXBwsPH29jatW7c2CQkJeS6NfvPNN03btm1NxYoVjZeXl6lVq5aZMGGCSUtLM8YYk5WVZSZMmGAaN25sfH19jY+Pj2ncuHGem0/m5/Kl55cXT09PExQUZDp37mxee+01h8u7L/vrpecbNmwwvXr1MiEhIcbT09OEhISY+++/P8/tDj755BMTERFhPDw88r2pYH4KuvT83XffNdHR0aZKlSrG29vbdO/e3Rw9ejTP41999VVz8803Gy8vL9O6dWuzc+fOPGNeqbb8Xkvnzp0z48aNMyEhIaZMmTKmTp06V7yp4F8VdEk8bgw2Y5ixBVzv0tPT1a5dO/3000/atGmT/eMMV/fbb78pODhYkyZN0sSJE51dDgCLYs4OYAF+fn5avXq1KlWqpG7duuU7+dgVLVy4UDk5ORowYICzSwFgYZzZAVDq4uLi9P3332vixInq0KGDPv74Y2eXBMDCCDsASl379u21bds2tW7dWv/73/+u+F1YAHCtCDsAAMDSmLMDAAAsjbADAAAsjZsK6o/vMTp58qR8fX2L/fbqAACgZBhjdO7cOYWEhMjNreDzN4QdSSdPnlRoaKizywAAAEVw/PhxVa1atcB+wo5k/2K548ePy8/Pz8nVAACAq5Genq7Q0FCHL4jND2FH/+/bd/38/Ag7AABcZ/5uCgoTlAEAgKURdgAAgKURdgAAgKURdgAAgKURdgAAgKURdgAAgKURdgAAgKURdgAAgKURdgAAgKURdgAAgKURdgAAgKURdgAAgKURdgAAgKU5Nexs2rRJPXv2VEhIiGw2m1asWFHgto8++qhsNptmz57t0H7mzBn1799ffn5+CggI0JAhQ5SRkVGyhQMAgOuGhzN3npmZqcaNG+uhhx7SPffcU+B2y5cv1/bt2xUSEpKnr3///jp16pTWrVun7OxsDR48WMOGDdPSpUtLsvRCq/H0Z84uoVgcmd7d2SUAAFAoTg07Xbt2VdeuXa+4zYkTJzRq1CitXbtW3bs7/qHdv3+/1qxZox07dqhZs2aSpJiYGHXr1k2vvPJKvuEIAADcWFx6zk5ubq4GDBigCRMmqEGDBnn6ExISFBAQYA86khQZGSk3NzclJiYWOG5WVpbS09MdFgAAYE0uHXZeeukleXh4aPTo0fn2JyUlqUqVKg5tHh4eqlChgpKSkgocd9q0afL397cvoaGhxVo3AABwHS4bdnbt2qXXXntNCxculM1mK9axo6OjlZaWZl+OHz9erOMDAADX4bJhZ/PmzUpJSVG1atXk4eEhDw8PHT16VI8//rhq1KghSQoKClJKSorD4y5duqQzZ84oKCiowLG9vLzk5+fnsAAAAGty6gTlKxkwYIAiIyMd2qKiojRgwAANHjxYktSyZUulpqZq165datq0qSQpLi5Oubm5atGiRanXDAAAXI9Tw05GRoYOHTpkXz98+LD27NmjChUqqFq1aqpYsaLD9mXKlFFQUJDq1asnSQoPD1eXLl00dOhQxcbGKjs7WyNHjlS/fv24EgsAAEhy8sdYO3fuVJMmTdSkSRNJ0vjx49WkSRNNmjTpqsdYsmSJ6tevr06dOqlbt25q06aN5s+fX1IlAwCA64xTz+y0b99expir3v7IkSN52ipUqOByNxAEAACuw2UnKAMAABQHwg4AALA0wg4AALA0wg4AALA0wg4AALA0wg4AALA0wg4AALA0wg4AALA0wg4AALA0wg4AALA0wg4AALA0wg4AALA0wg4AALA0wg4AALA0wg4AALA0wg4AALA0wg4AALA0wg4AALA0wg4AALA0wg4AALA0wg4AALA0wg4AALA0wg4AALA0wg4AALA0wg4AALA0wg4AALA0wg4AALA0wg4AALA0wg4AALA0wg4AALA0wg4AALA0wg4AALA0wg4AALA0wg4AALA0wg4AALA0wg4AALA0wg4AALA0wg4AALA0wg4AALA0p4adTZs2qWfPngoJCZHNZtOKFSvsfdnZ2XrqqafUsGFD+fj4KCQkRAMHDtTJkycdxjhz5oz69+8vPz8/BQQEaMiQIcrIyCjlIwEAAK7KqWEnMzNTjRs31ty5c/P0nT9/Xrt379bEiRO1e/duffzxxzp48KDuuusuh+369++v7777TuvWrdOnn36qTZs2adiwYaV1CAAAwMXZjDHG2UVIks1m0/Lly3X33XcXuM2OHTt0++236+jRo6pWrZr279+viIgI7dixQ82aNZMkrVmzRt26ddMvv/yikJCQq9p3enq6/P39lZaWJj8/v+I4nDxqPP1ZiYxb2o5M7+7sEgAAkHT1f7+vqzk7aWlpstlsCggIkCQlJCQoICDAHnQkKTIyUm5ubkpMTCxwnKysLKWnpzssAADAmq6bsHPhwgU99dRTuv/+++3pLSkpSVWqVHHYzsPDQxUqVFBSUlKBY02bNk3+/v72JTQ0tERrBwAAznNdhJ3s7Gz17dtXxhjNmzfvmseLjo5WWlqafTl+/HgxVAkAAFyRh7ML+DuXg87Ro0cVFxfn8JlcUFCQUlJSHLa/dOmSzpw5o6CgoALH9PLykpeXV4nVDAAAXIdLn9m5HHR+/PFHrV+/XhUrVnTob9mypVJTU7Vr1y57W1xcnHJzc9WiRYvSLhcAALggp57ZycjI0KFDh+zrhw8f1p49e1ShQgUFBwerT58+2r17tz799FPl5OTY5+FUqFBBnp6eCg8PV5cuXTR06FDFxsYqOztbI0eOVL9+/a76SiwAAGBtTg07O3fuVIcOHezr48ePlyQNGjRIzz77rFauXClJuvXWWx0eFx8fr/bt20uSlixZopEjR6pTp05yc3NT7969NWfOnFKpHwAAuD6nhp327dvrSrf5uZpbAFWoUEFLly4tzrIAAICFuPScHQAAgGtF2AEAAJZG2AEAAJZG2AEAAJZG2AEAAJZG2AEAAJZG2AEAAJZG2AEAAJZG2AEAAJZG2AEAAJZG2AEAAJZG2AEAAJZG2AEAAJZG2AEAAJZG2AEAAJZG2AEAAJZG2AEAAJZG2AEAAJZG2AEAAJZG2AEAAJZG2AEAAJZG2AEAAJZG2AEAAJZG2AEAAJZG2AEAAJZG2AEAAJZG2AEAAJZG2AEAAJZG2AEAAJZG2AEAAJZG2AEAAJZG2AEAAJZG2AEAAJZG2AEAAJZG2AEAAJZG2AEAAJZG2AEAAJZG2AEAAJZG2AEAAJbm1LCzadMm9ezZUyEhIbLZbFqxYoVDvzFGkyZNUnBwsLy9vRUZGakff/zRYZszZ86of//+8vPzU0BAgIYMGaKMjIxSPAoAAODKnBp2MjMz1bhxY82dOzff/hkzZmjOnDmKjY1VYmKifHx8FBUVpQsXLti36d+/v7777jutW7dOn376qTZt2qRhw4aV1iEAAAAX5+HMnXft2lVdu3bNt88Yo9mzZ+uZZ55Rr169JEmLFi1SYGCgVqxYoX79+mn//v1as2aNduzYoWbNmkmSYmJi1K1bN73yyisKCQkptWMBAACuyWXn7Bw+fFhJSUmKjIy0t/n7+6tFixZKSEiQJCUkJCggIMAedCQpMjJSbm5uSkxMLHDsrKwspaenOywAAMCaXDbsJCUlSZICAwMd2gMDA+19SUlJqlKlikO/h4eHKlSoYN8mP9OmTZO/v799CQ0NLebqAQCAq3DZsFOSoqOjlZaWZl+OHz/u7JIAAEAJcdmwExQUJElKTk52aE9OTrb3BQUFKSUlxaH/0qVLOnPmjH2b/Hh5ecnPz89hAQAA1uSyYScsLExBQUHasGGDvS09PV2JiYlq2bKlJKlly5ZKTU3Vrl277NvExcUpNzdXLVq0KPWaAQCA63Hq1VgZGRk6dOiQff3w4cPas2ePKlSooGrVqmns2LF64YUXVKdOHYWFhWnixIkKCQnR3XffLUkKDw9Xly5dNHToUMXGxio7O1sjR45Uv379uBILAABIcnLY2blzpzp06GBfHz9+vCRp0KBBWrhwoZ588kllZmZq2LBhSk1NVZs2bbRmzRqVLVvW/pglS5Zo5MiR6tSpk9zc3NS7d2/NmTOn1I8FAAC4Jpsxxji7CGdLT0+Xv7+/0tLSSmz+To2nPyuRcUvbkendnV0CAACSrv7vt8vO2QEAACgOhB0AAGBphB0AAGBphB0AAGBphB0AAGBphB0AAGBphB0AAGBphB0AAGBphB0AAGBphB0AAGBphB0AAGBphB0AAGBphB0AAGBphB0AAGBphB0AAGBphB0AAGBphB0AAGBphB0AAGBphB0AAGBphB0AAGBphB0AAGBphB0AAGBphB0AAGBphB0AAGBphB0AAGBphB0AAGBphB0AAGBphB0AAGBphB0AAGBphB0AAGBphB0AAGBphB0AAGBphB0AAGBphB0AAGBphB0AAGBphB0AAGBphB0AAGBphB0AAGBphB0AAGBpLh12cnJyNHHiRIWFhcnb21u1atXS888/L2OMfRtjjCZNmqTg4GB5e3srMjJSP/74oxOrBgAArqRIYadmzZo6ffp0nvbU1FTVrFnzmou67KWXXtK8efP0+uuva//+/XrppZc0Y8YMxcTE2LeZMWOG5syZo9jYWCUmJsrHx0dRUVG6cOFCsdUBAACuXx5FedCRI0eUk5OTpz0rK0snTpy45qIu27Ztm3r16qXu3btLkmrUqKF3331XX331laQ/zurMnj1bzzzzjHr16iVJWrRokQIDA7VixQr169ev2GoBAADXp0KFnZUrV9r/vXbtWvn7+9vXc3JytGHDBtWoUaPYimvVqpXmz5+vH374QXXr1tU333yjLVu2aObMmZKkw4cPKykpSZGRkfbH+Pv7q0WLFkpISCgw7GRlZSkrK8u+np6eXmw1AwAA11KosHP33XdLkmw2mwYNGuTQV6ZMGdWoUUOvvvpqsRX39NNPKz09XfXr15e7u7tycnL04osvqn///pKkpKQkSVJgYKDD4wIDA+19+Zk2bZqee+65YqsTAAC4rkKFndzcXElSWFiYduzYoUqVKpVIUZd98MEHWrJkiZYuXaoGDRpoz549Gjt2rEJCQvKErcKIjo7W+PHj7evp6ekKDQ0tjpIBAICLKdKcncOHDxd3HfmaMGGCnn76afvHUQ0bNtTRo0c1bdo0DRo0SEFBQZKk5ORkBQcH2x+XnJysW2+9tcBxvby85OXlVaK1AwAA11CksCNJGzZs0IYNG5SSkmI/43PZO++8c82FSdL58+fl5uZ4wZi7u7vDGaagoCBt2LDBHm7S09OVmJio4cOHF0sNAADg+laksPPcc89pypQpatasmYKDg2Wz2Yq7LklSz5499eKLL6patWpq0KCBvv76a82cOVMPPfSQpD/mDo0dO1YvvPCC6tSpo7CwME2cOFEhISH2+UUAAODGVqSwExsbq4ULF2rAgAHFXY+DmJgYTZw4UY899phSUlIUEhKiRx55RJMmTbJv8+STTyozM1PDhg1Tamqq2rRpozVr1qhs2bIlWhsAALg+2Myfb0d8lSpWrKivvvpKtWrVKomaSl16err8/f2VlpYmPz+/EtlHjac/K5FxS9uR6d2dXQIAAJKu/u93ke6g/PDDD2vp0qVFLg4AAKC0FOljrAsXLmj+/Plav369GjVqpDJlyjj0X77pHwAAgLMVKezs3bvXfvXTvn37HPpKarIyAABAURQp7MTHxxd3HQAAACWiSHN2AAAArhdFOrPToUOHK35cFRcXV+SCAAAAilORws5fv4ohOztbe/bs0b59+67pO6sAAACKW5HCzqxZs/Jtf/bZZ5WRkXFNBQEAABSnYp2z88ADDxTb92IBAAAUh2INOwkJCXxNAwAAcClF+hjrnnvucVg3xujUqVPauXOnJk6cWCyFAQAAFIcihR1/f3+HdTc3N9WrV09TpkzRnXfeWSyFAQAAFIcihZ0FCxYUdx0AAAAlokhh57Jdu3Zp//79kqQGDRqoSZMmxVIUAABAcSlS2ElJSVG/fv20ceNGBQQESJJSU1PVoUMHvffee6pcuXJx1ggAAFBkRboaa9SoUTp37py+++47nTlzRmfOnNG+ffuUnp6u0aNHF3eNAAAARVakMztr1qzR+vXrFR4ebm+LiIjQ3LlzmaAMAABcSpHO7OTm5qpMmTJ52suUKaPc3NxrLgoAAKC4FCnsdOzYUWPGjNHJkyftbSdOnNC4cePUqVOnYisOAADgWhUp7Lz++utKT09XjRo1VKtWLdWqVUthYWFKT09XTExMcdcIAABQZEWasxMaGqrdu3dr/fr1OnDggCQpPDxckZGRxVocAADAtSrUmZ24uDhFREQoPT1dNptNnTt31qhRozRq1Cg1b95cDRo00ObNm0uqVgAAgEIrVNiZPXu2hg4dKj8/vzx9/v7+euSRRzRz5sxiKw4AAOBaFSrsfPPNN+rSpUuB/Xfeead27dp1zUUBAAAUl0KFneTk5HwvOb/Mw8NDv/766zUXBQAAUFwKFXZuvvlm7du3r8D+vXv3Kjg4+JqLAgAAKC6FCjvdunXTxIkTdeHChTx9v//+uyZPnqwePXoUW3EAAADXqlCXnj/zzDP6+OOPVbduXY0cOVL16tWTJB04cEBz585VTk6O/v3vf5dIoQAAAEVRqLATGBiobdu2afjw4YqOjpYxRpJks9kUFRWluXPnKjAwsEQKBQAAKIpC31SwevXq+vzzz3X27FkdOnRIxhjVqVNH5cuXL4n6AAAArkmR7qAsSeXLl1fz5s2LsxYAAIBiV6TvxgIAALheEHYAAIClEXYAAIClEXYAAIClEXYAAIClEXYAAIClEXYAAIClEXYAAICluXzYOXHihB544AFVrFhR3t7eatiwoXbu3GnvN8Zo0qRJCg4Olre3tyIjI/Xjjz86sWIAAOBKXDrsnD17Vq1bt1aZMmW0evVqff/993r11VcdvppixowZmjNnjmJjY5WYmCgfHx9FRUXl+83sAADgxlPkr4soDS+99JJCQ0O1YMECe1tYWJj938YYzZ49W88884x69eolSVq0aJECAwO1YsUK9evXr9RrBgAArsWlz+ysXLlSzZo107333qsqVaqoSZMmeuutt+z9hw8fVlJSkiIjI+1t/v7+atGihRISEgocNysrS+np6Q4LAACwJpcOOz///LPmzZunOnXqaO3atRo+fLhGjx6t//73v5KkpKQkSVJgYKDD4wIDA+19+Zk2bZr8/f3tS2hoaMkdBAAAcCqXDju5ubm67bbbNHXqVDVp0kTDhg3T0KFDFRsbe03jRkdHKy0tzb4cP368mCoGAACuxqXDTnBwsCIiIhzawsPDdezYMUlSUFCQJCk5Odlhm+TkZHtffry8vOTn5+ewAAAAa3LpsNO6dWsdPHjQoe2HH35Q9erVJf0xWTkoKEgbNmyw96enpysxMVEtW7Ys1VoBAIBrcumrscaNG6dWrVpp6tSp6tu3r7766ivNnz9f8+fPlyTZbDaNHTtWL7zwgurUqaOwsDBNnDhRISEhuvvuu51bPAAAcAkuHXaaN2+u5cuXKzo6WlOmTFFYWJhmz56t/v3727d58sknlZmZqWHDhik1NVVt2rTRmjVrVLZsWSdWDgAAXIXNGGOcXYSzpaeny9/fX2lpaSU2f6fG05+VyLil7cj07s4uAQAASVf/99ul5+wAAABcK8IOAACwNMIOAACwNMIOAACwNMIOAACwNMIOAACwNMIOAACwNMIOAACwNMIOAACwNMIOAACwNMIOAACwNMIOAACwNMIOAACwNMIOAACwNMIOAACwNMIOAACwNMIOAACwNMIOAACwNMIOAACwNMIOAACwNMIOAACwNMIOAACwNMIOAACwNMIOAACwNMIOAACwNMIOAACwNMIOAACwNMIOAACwNMIOAACwNMIOAACwNMIOAACwNMIOAACwNMIOAACwNA9nFwA4Q42nP3N2CdfsyPTuzi4BAK4LnNkBAACWRtgBAACWRtgBAACWRtgBAACWRtgBAACWdl2FnenTp8tms2ns2LH2tgsXLmjEiBGqWLGiypUrp969eys5Odl5RQIAAJdy3YSdHTt26M0331SjRo0c2seNG6dVq1bpww8/1JdffqmTJ0/qnnvucVKVAADA1VwXYScjI0P9+/fXW2+9pfLly9vb09LS9Pbbb2vmzJnq2LGjmjZtqgULFmjbtm3avn17geNlZWUpPT3dYQEAANZ0XYSdESNGqHv37oqMjHRo37Vrl7Kzsx3a69evr2rVqikhIaHA8aZNmyZ/f3/7EhoaWmK1AwAA53L5sPPee+9p9+7dmjZtWp6+pKQkeXp6KiAgwKE9MDBQSUlJBY4ZHR2ttLQ0+3L8+PHiLhsAALgIl/66iOPHj2vMmDFat26dypYtW2zjenl5ycvLq9jGAwAArsulz+zs2rVLKSkpuu222+Th4SEPDw99+eWXmjNnjjw8PBQYGKiLFy8qNTXV4XHJyckKCgpyTtEAAMCluPSZnU6dOunbb791aBs8eLDq16+vp556SqGhoSpTpow2bNig3r17S5IOHjyoY8eOqWXLls4oGQAAuBiXDju+vr665ZZbHNp8fHxUsWJFe/uQIUM0fvx4VahQQX5+fho1apRatmypf/zjH84oGQAAuBiXDjtXY9asWXJzc1Pv3r2VlZWlqKgovfHGG84uCwAAuIjrLuxs3LjRYb1s2bKaO3eu5s6d65yCAACAS3PpCcoAAADXirADAAAsjbADAAAsjbADAAAsjbADAAAsjbADAAAsjbADAAAsjbADAAAsjbADAAAsjbADAAAsjbADAAAsjbADAAAsjbADAAAsjbADAAAsjbADAAAsjbADAAAsjbADAAAsjbADAAAsjbADAAAsjbADAAAsjbADAAAsjbADAAAsjbADAAAsjbADAAAsjbADAAAsjbADAAAsjbADAAAsjbADAAAsjbADAAAsjbADAAAsjbADAAAsjbADAAAsjbADAAAsjbADAAAsjbADAAAsjbADAAAsjbADAAAsjbADAAAsjbADAAAszaXDzrRp09S8eXP5+vqqSpUquvvuu3Xw4EGHbS5cuKARI0aoYsWKKleunHr37q3k5GQnVQwAAFyNS4edL7/8UiNGjND27du1bt06ZWdn684771RmZqZ9m3HjxmnVqlX68MMP9eWXX+rkyZO65557nFg1AABwJR7OLuBK1qxZ47C+cOFCValSRbt27VLbtm2Vlpamt99+W0uXLlXHjh0lSQsWLFB4eLi2b9+uf/zjH/mOm5WVpaysLPt6enp6yR0EAABwKpc+s/NXaWlpkqQKFSpIknbt2qXs7GxFRkbat6lfv76qVaumhISEAseZNm2a/P397UtoaGjJFg4AAJzmugk7ubm5Gjt2rFq3bq1bbrlFkpSUlCRPT08FBAQ4bBsYGKikpKQCx4qOjlZaWpp9OX78eEmWDgAAnMilP8b6sxEjRmjfvn3asmXLNY/l5eUlLy+vYqgKAAC4uusi7IwcOVKffvqpNm3apKpVq9rbg4KCdPHiRaWmpjqc3UlOTlZQUJATKgVQWDWe/szZJVyzI9O7O7sEAFfg0h9jGWM0cuRILV++XHFxcQoLC3Pob9q0qcqUKaMNGzbY2w4ePKhjx46pZcuWpV0uAABwQS59ZmfEiBFaunSpPvnkE/n6+trn4fj7+8vb21v+/v4aMmSIxo8frwoVKsjPz0+jRo1Sy5YtC7wSCwAA3FhcOuzMmzdPktS+fXuH9gULFujBBx+UJM2aNUtubm7q3bu3srKyFBUVpTfeeKOUKwUAAK7KpcOOMeZvtylbtqzmzp2ruXPnlkJFAADgeuPSc3YAAACuFWEHAABYGmEHAABYGmEHAABYGmEHAABYGmEHAABYGmEHAABYGmEHAABYGmEHAABYGmEHAABYGmEHAABYGmEHAABYGmEHAABYGmEHAABYGmEHAABYGmEHAABYGmEHAABYGmEHAABYGmEHAABYGmEHAABYGmEHAABYGmEHAABYGmEHAABYGmEHAABYGmEHAABYGmEHAABYGmEHAABYmoezCwAAuIYaT3/m7BKKxZHp3Z1dAlwMZ3YAAIClEXYAAICl8TEWAAAuho8UixdndgAAgKURdgAAgKURdgAAgKURdgAAgKURdgAAgKURdgAAgKURdgAAgKVZJuzMnTtXNWrUUNmyZdWiRQt99dVXzi4JAAC4AEuEnffff1/jx4/X5MmTtXv3bjVu3FhRUVFKSUlxdmkAAMDJLBF2Zs6cqaFDh2rw4MGKiIhQbGysbrrpJr3zzjvOLg0AADjZdf91ERcvXtSuXbsUHR1tb3Nzc1NkZKQSEhLyfUxWVpaysrLs62lpaZKk9PT0EqszN+t8iY1dmkryZ1SarPB88Fy4Dp4L12KF54PnonDjG2OuuN11H3Z+++035eTkKDAw0KE9MDBQBw4cyPcx06ZN03PPPZenPTQ0tERqtBL/2c6uAJfxXLgOngvXwvPhOkrruTh37pz8/f0L7L/uw05RREdHa/z48fb13NxcnTlzRhUrVpTNZnNiZUWXnp6u0NBQHT9+XH5+fs4u54bGc+FaeD5cB8+F67DKc2GM0blz5xQSEnLF7a77sFOpUiW5u7srOTnZoT05OVlBQUH5PsbLy0teXl4ObQEBASVVYqny8/O7rl+4VsJz4Vp4PlwHz4XrsMJzcaUzOpdd9xOUPT091bRpU23YsMHelpubqw0bNqhly5ZOrAwAALiC6/7MjiSNHz9egwYNUrNmzXT77bdr9uzZyszM1ODBg51dGgAAcDJLhJ377rtPv/76qyZNmqSkpCTdeuutWrNmTZ5Jy1bm5eWlyZMn5/l4DqWP58K18Hy4Dp4L13GjPRc283fXawEAAFzHrvs5OwAAAFdC2AEAAJZG2AEAAJZG2AEAAJZG2LGgffv2ObsEAABcBmHHIs6dO6f58+fr9ttvV+PGjZ1dDoAbXFxcnCIiIvL9Isi0tDQ1aNBAmzdvdkJluBERdq5zmzZt0qBBgxQcHKxXXnlFHTt21Pbt251dFuAU3bp1U1pamn19+vTpSk1Nta+fPn1aERERTqjsxjN79mwNHTo0368i8Pf31yOPPKKZM2c6obIb1+nTp+3/Pn78uCZNmqQJEybcEKGT++xch5KSkrRw4UK9/fbbSk9PV9++fRUbG6tvvvmGX+RO4Obm9rdfIGuz2XTp0qVSqujG5e7urlOnTqlKlSqS/vjenz179qhmzZqS/vjOvJCQEOXk5DizzBtC9erVtWbNGoWHh+fbf+DAAd155506duxYKVd24/n222/Vs2dPHT9+XHXq1NF7772nLl26KDMzU25ubsrMzNSyZct09913O7vUEmOJOyjfSHr27KlNmzape/fumj17trp06SJ3d3fFxsY6u7Qb1vLlywvsS0hI0Jw5c5Sbm1uKFd24/vrejfdyzpOcnKwyZcoU2O/h4aFff/21FCu6cT355JNq2LChlixZosWLF6tHjx7q3r273nrrLUnSqFGjNH36dMIOXMfq1as1evRoDR8+XHXq1HF2OZDUq1evPG0HDx7U008/rVWrVql///6aMmWKEyoDnOfmm2/Wvn37VLt27Xz79+7dq+Dg4FKu6sa0Y8cOxcXFqVGjRmrcuLHmz5+vxx57TG5uf8xkGTVqlP7xj384ucqSxZyd68yWLVt07tw5NW3aVC1atNDrr7+u3377zdll4f938uRJDR06VA0bNtSlS5e0Z88e/fe//1X16tWdXdoNwWaz5flI8e8+YkTJ6NatmyZOnKgLFy7k6fv99981efJk9ejRwwmV3XjOnDmjoKAgSVK5cuXk4+Oj8uXL2/vLly+vc+fOOau8UsGcnetUZmam3n//fb3zzjv66quvlJOTo5kzZ+qhhx6Sr6+vs8u74aSlpWnq1KmKiYnRrbfeqpdeekl33HGHs8u64bi5ualr1672LzdctWqVOnbsKB8fH0lSVlaW1qxZw5ydUpCcnKzbbrtN7u7uGjlypOrVqyfpj7k6c+fOVU5Ojnbv3n1DfWGzs7i5uSk5OVmVK1eWJPn6+mrv3r0KCwuTdGPMZSPsWMDBgwf19ttva/HixUpNTVXnzp21cuVKZ5d1w5gxY4ZeeuklBQUFaerUqfl+rIXSMXjw4KvabsGCBSVcCSTp6NGjGj58uNauXWufP2Wz2RQVFaW5c+fa/9iiZPEmgLBjKTk5OVq1apXeeecdwk4pcnNzk7e3tyIjI+Xu7l7gdh9//HEpVgW4jrNnz+rQoUMyxqhOnToOH6Gg5PEmgLADXLMHH3zwquaFWPkXCQC4MsIOAACwNK7GAgAAlkbYAQAAlkbYAQAAlkbYAQAAlkbYAYArWLhwoQICApxdBoBrQNgBcE1iY2Pl6+vr8K3uGRkZKlOmjNq3b++w7caNG2Wz2fTTTz/97biXt01NTS3mih3Fx8erW7duqlixom666SZFRETo8ccf14kTJ0p0vwBKD2EHwDXp0KGDMjIytHPnTnvb5s2bFRQUpMTERIfvRoqPj1e1atVUq1atUqvPGOMQxP7szTffVGRkpIKCgvTRRx/p+++/V2xsrNLS0vTqq6+WWo0AShZhB8A1qVevnoKDg7Vx40Z728aNG9WrVy+FhYVp+/btDu0dOnSQJC1evFjNmjWTr6+vgoKC9K9//UspKSmSpCNHjti3K1++vGw2mx588EFJUm5urqZNm6awsDB5e3urcePGWrZsmcM+bDabVq9eraZNm8rLy0tbtmzJU/cvv/yi0aNHa/To0XrnnXfUvn171ahRQ23bttV//vMfTZo0Kd/j/emnn9SrVy8FBgaqXLlyat68udavX++wzRtvvKE6deqobNmyCgwMVJ8+fex9y5YtU8OGDeXt7a2KFSsqMjJSmZmZhfiJAygswg6Aa9ahQwfFx8fb1+Pj49W+fXu1a9fO3v77778rMTHRHmKys7P1/PPP65tvvtGKFSt05MgRe6AJDQ3VRx99JOmP7347deqUXnvtNUnStGnTtGjRIsXGxuq7777TuHHj9MADD+jLL790qOnpp5/W9OnTtX//fjVq1ChPzR9++KEuXryoJ598Mt9jKmieTkZGhrp166YNGzbo66+/VpcuXdSzZ08dO3ZMkrRz506NHj1aU6ZM0cGDB7VmzRq1bdtWknTq1Cndf//9euihh7R//35t3LhR99xzj7i3K1DCDABco7feesv4+PiY7Oxsk56ebjw8PExKSopZunSpadu2rTHGmA0bNhhJ5ujRo/mOsWPHDiPJnDt3zhhjTHx8vJFkzp49a9/mwoUL5qabbjLbtm1zeOyQIUPM/fff7/C4FStWXLHm4cOHGz8/v789tgULFhh/f/8rbtOgQQMTExNjjDHmo48+Mn5+fiY9PT3Pdrt27TKSzJEjR/52vwCKD2d2AFyz9u3bKzMzUzt27NDmzZtVt25dVa5cWe3atbPP29m4caNq1qypatWqSZJ27dqlnj17qlq1avL19VW7du0kyX6GJD+HDh3S+fPn1blzZ5UrV86+LFq0KM+k52bNml2xZmPMVX2n2V9lZGToiSeeUHh4uAICAlSuXDnt37/fXnfnzp1VvXp11axZUwMGDNCSJUt0/vx5SVLjxo3VqVMnNWzYUPfee6/eeustnT17ttA1ACgcwg6Aa1a7dm1VrVpV8fHxio+PtweXkJAQhYaGatu2bYqPj1fHjh0lSZmZmYqKipKfn5+WLFmiHTt2aPny5ZKkixcvFrifjIwMSdJnn32mPXv22Jfvv//eYd6OJPn4+Fyx5rp16yotLU2nTp0q1LE+8cQTWr58uaZOnarNmzdrz549atiwob1uX19f7d69W++++66Cg4M1adIkNW7cWKmpqXJ3d9e6deu0evVqRUREKCYmRvXq1dPhw4cLVQOAwiHsACgWHTp00MaNG7Vx40aHS87btm2r1atX66uvvrLP1zlw4IBOnz6t6dOn64477lD9+vXtk5Mv8/T0lCTl5OTY2yIiIuTl5aVjx46pdu3aDktoaGih6u3Tp488PT01Y8aMfPsLuuR969atevDBB/XPf/5TDRs2VFBQkI4cOeKwjYeHhyIjIzVjxgzt3btXR44cUVxcnCTJZrOpdevWeu655/T111/L09PTHvQAlAwPZxcAwBo6dOigESNGKDs7235mR5LatWunkSNH6uLFi/awU61aNXl6eiomJkaPPvqo9u3bp+eff95hvOrVq8tms+nTTz9Vt27d5O3tLV9fXz3xxBMaN26ccnNz1aZNG6WlpWnr1q3y8/PToEGDrrre0NBQzZo1SyNHjlR6eroGDhyoGjVq6JdfftGiRYtUrly5fC8/r1Onjj7++GP17NlTNptNEydOVG5urr3/008/1c8//6y2bduqfPny+vzzz5Wbm6t69eopMTFRGzZs0J133qkqVaooMTFRv/76q8LDwwv74wZQGM6eNATAGg4fPmwkmfr16zu0HzlyxEgy9erVc2hfunSpqVGjhvHy8jItW7Y0K1euNJLM119/bd9mypQpJigoyNhsNjNo0CBjjDG5ublm9uzZpl69eqZMmTKmcuXKJioqynz55ZfGmPwnNl/JunXrTFRUlClfvrwpW7asqV+/vnniiSfMyZMnjTF5JygfPnzYdOjQwXh7e5vQ0FDz+uuvm3bt2pkxY8YYY4zZvHmzadeunSlfvrzx9vY2jRo1Mu+//74xxpjvv//eREVFmcqVKxsvLy9Tt25d+8RmACXHZgzXPAIAAOtizg4AALA0wg4AALA0wg4AALA0wg4AALA0wg4AALA0wg4AALA0wg4AALA0wg4AALA0wg4AALA0wg4AALA0wg4AALC0/w/d6iaZZYiHq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 anchorCtr="0">
            <a:normAutofit fontScale="90000"/>
          </a:bodyPr>
          <a:lstStyle/>
          <a:p>
            <a:r>
              <a:rPr lang="en-US" dirty="0" smtClean="0"/>
              <a:t>EDA – </a:t>
            </a:r>
            <a:r>
              <a:rPr lang="en-US" b="0" dirty="0" smtClean="0"/>
              <a:t>pH Distribution by Water Class</a:t>
            </a:r>
            <a:br>
              <a:rPr lang="en-US" b="0" dirty="0" smtClean="0"/>
            </a:br>
            <a:endParaRPr lang="en-US" dirty="0"/>
          </a:p>
        </p:txBody>
      </p:sp>
      <p:pic>
        <p:nvPicPr>
          <p:cNvPr id="4" name="Content Placeholder 3" descr="pH_Distribution_by_Water_Clas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9129" y="1593908"/>
            <a:ext cx="6771080" cy="496461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EDA – </a:t>
            </a:r>
            <a:r>
              <a:rPr lang="en-US" b="0" dirty="0" smtClean="0"/>
              <a:t>Correlation </a:t>
            </a:r>
            <a:r>
              <a:rPr lang="en-US" b="0" dirty="0" err="1" smtClean="0"/>
              <a:t>Heatmap</a:t>
            </a:r>
            <a:endParaRPr lang="en-US" b="0" dirty="0"/>
          </a:p>
        </p:txBody>
      </p:sp>
      <p:pic>
        <p:nvPicPr>
          <p:cNvPr id="4" name="Content Placeholder 3" descr="Correlation_Heatmap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7347" y="1600200"/>
            <a:ext cx="6929306" cy="485936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8682"/>
            <a:ext cx="8229600" cy="5360565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2000" b="1" dirty="0" smtClean="0"/>
              <a:t>Water Quality Class </a:t>
            </a:r>
            <a:r>
              <a:rPr lang="en-US" sz="2000" b="1" dirty="0" smtClean="0"/>
              <a:t>Distribution:</a:t>
            </a:r>
            <a:r>
              <a:rPr lang="en-US" sz="2000" b="1" dirty="0" smtClean="0"/>
              <a:t> </a:t>
            </a:r>
            <a:r>
              <a:rPr lang="en-US" sz="2000" dirty="0" smtClean="0"/>
              <a:t>Most </a:t>
            </a:r>
            <a:r>
              <a:rPr lang="en-US" sz="2000" dirty="0" smtClean="0"/>
              <a:t>water samples are classified as </a:t>
            </a:r>
            <a:r>
              <a:rPr lang="en-US" sz="2000" b="1" dirty="0" smtClean="0"/>
              <a:t>Class C and Class A</a:t>
            </a:r>
            <a:r>
              <a:rPr lang="en-US" sz="2000" dirty="0" smtClean="0"/>
              <a:t>, with relatively fewer samples in </a:t>
            </a:r>
            <a:r>
              <a:rPr lang="en-US" sz="2000" b="1" dirty="0" smtClean="0"/>
              <a:t>Classes B and E</a:t>
            </a:r>
            <a:r>
              <a:rPr lang="en-US" sz="2000" dirty="0" smtClean="0"/>
              <a:t>, and a notable share labeled as </a:t>
            </a:r>
            <a:r>
              <a:rPr lang="en-US" sz="2000" b="1" dirty="0" smtClean="0"/>
              <a:t>No Information (N</a:t>
            </a:r>
            <a:r>
              <a:rPr lang="en-US" sz="2000" b="1" dirty="0" smtClean="0"/>
              <a:t>)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b="1" dirty="0" smtClean="0"/>
              <a:t>pH Distribution by Water </a:t>
            </a:r>
            <a:r>
              <a:rPr lang="en-US" sz="2000" b="1" dirty="0" smtClean="0"/>
              <a:t>Class:</a:t>
            </a:r>
            <a:r>
              <a:rPr lang="en-US" sz="2000" b="1" dirty="0" smtClean="0"/>
              <a:t> </a:t>
            </a:r>
            <a:r>
              <a:rPr lang="en-US" sz="2000" dirty="0" smtClean="0"/>
              <a:t>pH </a:t>
            </a:r>
            <a:r>
              <a:rPr lang="en-US" sz="2000" dirty="0" smtClean="0"/>
              <a:t>values across all water quality classes remain largely consistent within a </a:t>
            </a:r>
            <a:r>
              <a:rPr lang="en-US" sz="2000" b="1" dirty="0" smtClean="0"/>
              <a:t>slightly acidic to slightly alkaline range (≈7.0–8.5)</a:t>
            </a:r>
            <a:r>
              <a:rPr lang="en-US" sz="2000" dirty="0" smtClean="0"/>
              <a:t>, indicating limited variation by class</a:t>
            </a:r>
            <a:r>
              <a:rPr lang="en-US" sz="2000" dirty="0" smtClean="0"/>
              <a:t>.</a:t>
            </a:r>
            <a:r>
              <a:rPr lang="en-US" sz="2000" dirty="0" smtClean="0"/>
              <a:t> There are some outliers in certain classes, suggesting occasional variations in pH, but the central tendency for all classes remains consistent.</a:t>
            </a:r>
          </a:p>
          <a:p>
            <a:pPr>
              <a:buNone/>
            </a:pPr>
            <a:endParaRPr lang="en-US" sz="2000" dirty="0" smtClean="0"/>
          </a:p>
          <a:p>
            <a:r>
              <a:rPr lang="en-US" sz="2000" b="1" dirty="0" smtClean="0"/>
              <a:t>Correlation </a:t>
            </a:r>
            <a:r>
              <a:rPr lang="en-US" sz="2000" b="1" dirty="0" smtClean="0"/>
              <a:t>Analysis: </a:t>
            </a:r>
            <a:r>
              <a:rPr lang="en-US" sz="2000" dirty="0" smtClean="0"/>
              <a:t>Strong </a:t>
            </a:r>
            <a:r>
              <a:rPr lang="en-US" sz="2000" dirty="0" smtClean="0"/>
              <a:t>positive correlations among mineral-related parameters (such as Conductivity, Hardness, and Total Dissolved Solids) indicate that these measures tend to increase together, reflecting underlying water chemistry patterns.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5010325"/>
          </a:xfrm>
        </p:spPr>
        <p:txBody>
          <a:bodyPr>
            <a:normAutofit lnSpcReduction="10000"/>
          </a:bodyPr>
          <a:lstStyle/>
          <a:p>
            <a:r>
              <a:rPr/>
              <a:t>Logistic </a:t>
            </a:r>
            <a:r>
              <a:rPr smtClean="0"/>
              <a:t>Regressio</a:t>
            </a:r>
            <a:r>
              <a:rPr lang="en-US" dirty="0" smtClean="0"/>
              <a:t>n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Logistic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Regression was used as a baseline model to establish a simple, interpretable benchmark for multi-class water quality classification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sz="2000">
              <a:latin typeface="Times New Roman" pitchFamily="18" charset="0"/>
              <a:cs typeface="Times New Roman" pitchFamily="18" charset="0"/>
            </a:endParaRPr>
          </a:p>
          <a:p>
            <a:r>
              <a:rPr/>
              <a:t>Random </a:t>
            </a:r>
            <a:r>
              <a:rPr smtClean="0"/>
              <a:t>Forest</a:t>
            </a:r>
            <a:r>
              <a:rPr lang="en-US" dirty="0" smtClean="0"/>
              <a:t> Classifier</a:t>
            </a:r>
          </a:p>
          <a:p>
            <a:pPr>
              <a:buNone/>
            </a:pPr>
            <a:r>
              <a:rPr lang="en-US" sz="2000" b="1" dirty="0" smtClean="0"/>
              <a:t>	</a:t>
            </a:r>
            <a:r>
              <a:rPr lang="en-US" sz="2000" dirty="0" smtClean="0"/>
              <a:t>Random </a:t>
            </a:r>
            <a:r>
              <a:rPr lang="en-US" sz="2000" dirty="0" smtClean="0"/>
              <a:t>Forest was employed to capture complex, non-linear relationships among water quality parameters and improve classification performance across all classes</a:t>
            </a:r>
            <a:r>
              <a:rPr lang="en-US" sz="2000" dirty="0" smtClean="0"/>
              <a:t>.</a:t>
            </a:r>
          </a:p>
          <a:p>
            <a:pPr>
              <a:buNone/>
            </a:pPr>
            <a:endParaRPr sz="2000" b="1" smtClean="0">
              <a:latin typeface="Times New Roman" pitchFamily="18" charset="0"/>
              <a:cs typeface="Times New Roman" pitchFamily="18" charset="0"/>
            </a:endParaRPr>
          </a:p>
          <a:p>
            <a:r>
              <a:rPr smtClean="0"/>
              <a:t>Extra Trees</a:t>
            </a:r>
            <a:r>
              <a:rPr lang="en-US" dirty="0" smtClean="0"/>
              <a:t> Classifier</a:t>
            </a:r>
          </a:p>
          <a:p>
            <a:pPr lvl="0">
              <a:buClr>
                <a:prstClr val="white">
                  <a:shade val="95000"/>
                </a:prstClr>
              </a:buClr>
              <a:buNone/>
            </a:pPr>
            <a:r>
              <a:rPr lang="en-US" sz="2000" dirty="0" smtClean="0">
                <a:solidFill>
                  <a:prstClr val="white"/>
                </a:solidFill>
              </a:rPr>
              <a:t>	Extra </a:t>
            </a:r>
            <a:r>
              <a:rPr lang="en-US" sz="2000" dirty="0" smtClean="0">
                <a:solidFill>
                  <a:prstClr val="white"/>
                </a:solidFill>
              </a:rPr>
              <a:t>Trees was applied as an ensemble-based approach to validate model robustness and assess whether increased randomness could further enhance classification performance.</a:t>
            </a:r>
          </a:p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315749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Evaluation Focus</a:t>
            </a:r>
            <a:r>
              <a:rPr lang="en-US" dirty="0" smtClean="0"/>
              <a:t>:</a:t>
            </a:r>
          </a:p>
          <a:p>
            <a:pPr>
              <a:buNone/>
            </a:pPr>
            <a:endParaRPr lang="en-US" dirty="0" smtClean="0"/>
          </a:p>
          <a:p>
            <a:r>
              <a:rPr smtClean="0"/>
              <a:t>Confusion Matrix</a:t>
            </a:r>
            <a:endParaRPr lang="en-US" dirty="0" smtClean="0"/>
          </a:p>
          <a:p>
            <a:r>
              <a:rPr smtClean="0"/>
              <a:t>Macro F1-score</a:t>
            </a:r>
            <a:r>
              <a:rPr lang="en-US" dirty="0" smtClean="0"/>
              <a:t> (best choice for imbalanced multi-class</a:t>
            </a:r>
            <a:r>
              <a:rPr lang="en-US" dirty="0" smtClean="0"/>
              <a:t>)</a:t>
            </a:r>
          </a:p>
          <a:p>
            <a:r>
              <a:rPr smtClean="0"/>
              <a:t>Cross-validation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Summary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198"/>
          <a:ext cx="8229600" cy="4657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164497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Strengths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Weaknesses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Mean CV F1</a:t>
                      </a:r>
                    </a:p>
                  </a:txBody>
                  <a:tcPr anchor="ctr"/>
                </a:tc>
              </a:tr>
              <a:tr h="1164497">
                <a:tc>
                  <a:txBody>
                    <a:bodyPr/>
                    <a:lstStyle/>
                    <a:p>
                      <a:r>
                        <a:rPr lang="en-US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Severe majority bias, poor minority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lowest</a:t>
                      </a:r>
                      <a:endParaRPr lang="en-US" dirty="0"/>
                    </a:p>
                  </a:txBody>
                  <a:tcPr anchor="ctr"/>
                </a:tc>
              </a:tr>
              <a:tr h="1164497"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Strong non-linear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Slight gender class imbalance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Best: ~0.52</a:t>
                      </a:r>
                    </a:p>
                  </a:txBody>
                  <a:tcPr anchor="ctr"/>
                </a:tc>
              </a:tr>
              <a:tr h="1164497">
                <a:tc>
                  <a:txBody>
                    <a:bodyPr/>
                    <a:lstStyle/>
                    <a:p>
                      <a:r>
                        <a:rPr lang="en-US"/>
                        <a:t>Extra Trees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Validated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Slightly lower F1 than </a:t>
                      </a:r>
                      <a:r>
                        <a:rPr lang="en-US" dirty="0" smtClean="0"/>
                        <a:t>Random Forest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~0.50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Logistic </a:t>
            </a:r>
            <a:r>
              <a:rPr smtClean="0"/>
              <a:t>Regressio</a:t>
            </a:r>
            <a:r>
              <a:rPr lang="en-US" dirty="0" smtClean="0"/>
              <a:t>n:</a:t>
            </a:r>
          </a:p>
          <a:p>
            <a:pPr>
              <a:buNone/>
            </a:pPr>
            <a:r>
              <a:rPr lang="en-US" dirty="0" smtClean="0"/>
              <a:t>	Mostly </a:t>
            </a:r>
            <a:r>
              <a:rPr lang="en-US" dirty="0" smtClean="0"/>
              <a:t>predicts Class A → majority bias</a:t>
            </a:r>
            <a:r>
              <a:rPr lang="en-US" dirty="0" smtClean="0"/>
              <a:t>.</a:t>
            </a:r>
          </a:p>
          <a:p>
            <a:pPr>
              <a:buNone/>
            </a:pPr>
            <a:endParaRPr/>
          </a:p>
          <a:p>
            <a:r>
              <a:t>Random Forest balanced predictions</a:t>
            </a:r>
          </a:p>
          <a:p>
            <a:pPr>
              <a:buNone/>
            </a:pPr>
            <a:r>
              <a:rPr lang="en-US" dirty="0" smtClean="0"/>
              <a:t>	Better minority class predictions (Class B, </a:t>
            </a:r>
            <a:r>
              <a:rPr lang="en-US" dirty="0" smtClean="0"/>
              <a:t>C, </a:t>
            </a:r>
            <a:r>
              <a:rPr lang="en-US" dirty="0" smtClean="0"/>
              <a:t>E), more balanced.</a:t>
            </a:r>
          </a:p>
          <a:p>
            <a:pPr>
              <a:buNone/>
            </a:pPr>
            <a:endParaRPr lang="en-US" dirty="0" smtClean="0"/>
          </a:p>
          <a:p>
            <a:r>
              <a:rPr smtClean="0"/>
              <a:t>Extra </a:t>
            </a:r>
            <a:r>
              <a:t>Trees </a:t>
            </a:r>
            <a:r>
              <a:rPr/>
              <a:t>confirms </a:t>
            </a:r>
            <a:r>
              <a:rPr smtClean="0"/>
              <a:t>trend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Similar to RF, confirms data-driven limits</a:t>
            </a:r>
            <a:r>
              <a:rPr lang="en-US" dirty="0" smtClean="0"/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Interpretation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42919"/>
          </a:xfrm>
        </p:spPr>
        <p:txBody>
          <a:bodyPr/>
          <a:lstStyle/>
          <a:p>
            <a:r>
              <a:rPr lang="en-US" dirty="0" smtClean="0"/>
              <a:t>Random Forest best balances precision and </a:t>
            </a:r>
            <a:r>
              <a:rPr lang="en-US" dirty="0" smtClean="0"/>
              <a:t>recall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Class imbalance remains a challenge</a:t>
            </a:r>
          </a:p>
          <a:p>
            <a:endParaRPr lang="en-US" dirty="0" smtClean="0"/>
          </a:p>
          <a:p>
            <a:r>
              <a:rPr lang="en-US" dirty="0" smtClean="0"/>
              <a:t>Model </a:t>
            </a:r>
            <a:r>
              <a:rPr lang="en-US" dirty="0" smtClean="0"/>
              <a:t>plateau suggests need for more data or feature engineering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Health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87536"/>
          </a:xfrm>
        </p:spPr>
        <p:txBody>
          <a:bodyPr/>
          <a:lstStyle/>
          <a:p>
            <a:r>
              <a:rPr lang="en-US" dirty="0" smtClean="0"/>
              <a:t>Poor water quality (higher BOD, COD, low DO) indicates </a:t>
            </a:r>
            <a:r>
              <a:rPr lang="en-US" dirty="0" smtClean="0"/>
              <a:t>contamination</a:t>
            </a:r>
          </a:p>
          <a:p>
            <a:endParaRPr lang="en-US" dirty="0" smtClean="0"/>
          </a:p>
          <a:p>
            <a:r>
              <a:rPr lang="en-US" dirty="0" smtClean="0"/>
              <a:t>Identifying risk zones enables targeted remediation</a:t>
            </a:r>
          </a:p>
          <a:p>
            <a:endParaRPr lang="en-US" dirty="0" smtClean="0"/>
          </a:p>
          <a:p>
            <a:r>
              <a:rPr lang="en-US" dirty="0" smtClean="0"/>
              <a:t>Data-driven </a:t>
            </a:r>
            <a:r>
              <a:rPr lang="en-US" dirty="0" smtClean="0"/>
              <a:t>insights help plan interventions (cleaning, monitoring) earlier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For </a:t>
            </a:r>
            <a:r>
              <a:rPr lang="en-US" b="1" dirty="0" smtClean="0"/>
              <a:t>Environmental Agencies</a:t>
            </a:r>
            <a:endParaRPr lang="en-US" dirty="0" smtClean="0"/>
          </a:p>
          <a:p>
            <a:r>
              <a:rPr lang="en-US" dirty="0" smtClean="0"/>
              <a:t>Prioritize sampling in areas with low DO and high BOD/COD</a:t>
            </a:r>
          </a:p>
          <a:p>
            <a:r>
              <a:rPr lang="en-US" dirty="0" smtClean="0"/>
              <a:t>Deploy real-time monitoring </a:t>
            </a:r>
            <a:r>
              <a:rPr lang="en-US" dirty="0" smtClean="0"/>
              <a:t>sensors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For </a:t>
            </a:r>
            <a:r>
              <a:rPr lang="en-US" b="1" dirty="0" smtClean="0"/>
              <a:t>Policymakers</a:t>
            </a:r>
            <a:endParaRPr lang="en-US" dirty="0" smtClean="0"/>
          </a:p>
          <a:p>
            <a:r>
              <a:rPr lang="en-US" dirty="0" smtClean="0"/>
              <a:t>Use predictive classification to issue warnings</a:t>
            </a:r>
          </a:p>
          <a:p>
            <a:r>
              <a:rPr lang="en-US" dirty="0" smtClean="0"/>
              <a:t>Allocate resources for cleanup and </a:t>
            </a:r>
            <a:r>
              <a:rPr lang="en-US" dirty="0" smtClean="0"/>
              <a:t>sanitation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For </a:t>
            </a:r>
            <a:r>
              <a:rPr lang="en-US" b="1" dirty="0" smtClean="0"/>
              <a:t>Public Health</a:t>
            </a:r>
            <a:endParaRPr lang="en-US" dirty="0" smtClean="0"/>
          </a:p>
          <a:p>
            <a:r>
              <a:rPr lang="en-US" dirty="0" smtClean="0"/>
              <a:t>Alert communities in Class </a:t>
            </a:r>
            <a:r>
              <a:rPr lang="en-US" dirty="0" smtClean="0"/>
              <a:t>C and Class E </a:t>
            </a:r>
            <a:r>
              <a:rPr lang="en-US" dirty="0" smtClean="0"/>
              <a:t>zones</a:t>
            </a:r>
          </a:p>
          <a:p>
            <a:r>
              <a:rPr lang="en-US" dirty="0" smtClean="0"/>
              <a:t>Reduce exposure risks proactively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86200"/>
          </a:xfrm>
        </p:spPr>
        <p:txBody>
          <a:bodyPr/>
          <a:lstStyle/>
          <a:p>
            <a:r>
              <a:rPr lang="en-US" dirty="0" smtClean="0"/>
              <a:t>Current model limited by class </a:t>
            </a:r>
            <a:r>
              <a:rPr lang="en-US" dirty="0" smtClean="0"/>
              <a:t>imbalance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More data needed for rare </a:t>
            </a:r>
            <a:r>
              <a:rPr lang="en-US" dirty="0" smtClean="0"/>
              <a:t>classes</a:t>
            </a:r>
          </a:p>
          <a:p>
            <a:endParaRPr lang="en-US" dirty="0" smtClean="0"/>
          </a:p>
          <a:p>
            <a:r>
              <a:rPr lang="en-US" dirty="0" smtClean="0"/>
              <a:t>Future </a:t>
            </a:r>
            <a:r>
              <a:rPr lang="en-US" dirty="0" smtClean="0"/>
              <a:t>enhancements: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Ensemble </a:t>
            </a:r>
            <a:r>
              <a:rPr lang="en-US" dirty="0" smtClean="0"/>
              <a:t>+ deep learning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Incorporate geographic &amp; temporal data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3154"/>
          </a:xfrm>
        </p:spPr>
        <p:txBody>
          <a:bodyPr>
            <a:normAutofit/>
          </a:bodyPr>
          <a:lstStyle/>
          <a:p>
            <a:r>
              <a:rPr lang="en-US" dirty="0" smtClean="0"/>
              <a:t>pH </a:t>
            </a:r>
            <a:r>
              <a:rPr lang="en-US" dirty="0" smtClean="0"/>
              <a:t>levels remain largely consistent across all classes, indicating that pH alone is not a strong discriminator of water quality categories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Machine </a:t>
            </a:r>
            <a:r>
              <a:rPr lang="en-US" dirty="0" smtClean="0"/>
              <a:t>learning provides meaningful water quality </a:t>
            </a:r>
            <a:r>
              <a:rPr lang="en-US" dirty="0" smtClean="0"/>
              <a:t>classification</a:t>
            </a:r>
          </a:p>
          <a:p>
            <a:r>
              <a:rPr lang="en-US" dirty="0" smtClean="0"/>
              <a:t>Random </a:t>
            </a:r>
            <a:r>
              <a:rPr lang="en-US" dirty="0" smtClean="0"/>
              <a:t>Forest identified as best </a:t>
            </a:r>
            <a:r>
              <a:rPr lang="en-US" dirty="0" smtClean="0"/>
              <a:t>model</a:t>
            </a:r>
          </a:p>
          <a:p>
            <a:r>
              <a:rPr lang="en-US" dirty="0" smtClean="0"/>
              <a:t>Results </a:t>
            </a:r>
            <a:r>
              <a:rPr lang="en-US" dirty="0" smtClean="0"/>
              <a:t>can guide healthier environments and informed decisions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6777" y="2942167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Thank You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75</TotalTime>
  <Words>584</Words>
  <Application>Microsoft Macintosh PowerPoint</Application>
  <PresentationFormat>On-screen Show (4:3)</PresentationFormat>
  <Paragraphs>140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Apex</vt:lpstr>
      <vt:lpstr>Water Quality Classification &amp; Public Health Analytics</vt:lpstr>
      <vt:lpstr>Project Overview</vt:lpstr>
      <vt:lpstr>Motivation</vt:lpstr>
      <vt:lpstr>Dataset Summary</vt:lpstr>
      <vt:lpstr>Water Quality Classes</vt:lpstr>
      <vt:lpstr>EDA – Water Quality Class Distribution </vt:lpstr>
      <vt:lpstr>EDA – pH Distribution by Water Class </vt:lpstr>
      <vt:lpstr>EDA – Correlation Heatmap</vt:lpstr>
      <vt:lpstr>EDA Insights</vt:lpstr>
      <vt:lpstr>Models Evaluated</vt:lpstr>
      <vt:lpstr>Evaluation Metrics</vt:lpstr>
      <vt:lpstr>Model Performance Summary</vt:lpstr>
      <vt:lpstr>Confusion Matrix Insights</vt:lpstr>
      <vt:lpstr>Performance Interpretation</vt:lpstr>
      <vt:lpstr>Public Health Impact</vt:lpstr>
      <vt:lpstr>Actionable Recommendations</vt:lpstr>
      <vt:lpstr>Limitations &amp; Future Work</vt:lpstr>
      <vt:lpstr>Conclusion</vt:lpstr>
      <vt:lpstr>Slide 19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Quality Classification &amp; Public Health Analytics</dc:title>
  <dc:subject/>
  <dc:creator/>
  <cp:keywords/>
  <dc:description>generated using python-pptx</dc:description>
  <cp:lastModifiedBy>Utkrisht Agrawal</cp:lastModifiedBy>
  <cp:revision>9</cp:revision>
  <dcterms:created xsi:type="dcterms:W3CDTF">2013-01-27T09:14:16Z</dcterms:created>
  <dcterms:modified xsi:type="dcterms:W3CDTF">2026-01-27T06:21:51Z</dcterms:modified>
  <cp:category/>
</cp:coreProperties>
</file>